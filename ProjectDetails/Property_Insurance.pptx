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7548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18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16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035040" y="0"/>
            <a:ext cx="3108960" cy="5143500"/>
          </a:xfrm>
          <a:prstGeom prst="rect">
            <a:avLst/>
          </a:prstGeom>
          <a:solidFill>
            <a:srgbClr val="162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 flipH="1">
            <a:off x="5029200" y="0"/>
            <a:ext cx="1188720" cy="5143500"/>
          </a:xfrm>
          <a:prstGeom prst="rtTriangle">
            <a:avLst/>
          </a:prstGeom>
          <a:solidFill>
            <a:srgbClr val="1A325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46520" y="502920"/>
            <a:ext cx="1005840" cy="10058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688" y="704088"/>
            <a:ext cx="603504" cy="6035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818120" y="1691640"/>
            <a:ext cx="868680" cy="8686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1856" y="1865376"/>
            <a:ext cx="521208" cy="52120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629400" y="2834640"/>
            <a:ext cx="822960" cy="822960"/>
          </a:xfrm>
          <a:prstGeom prst="ellipse">
            <a:avLst/>
          </a:prstGeom>
          <a:solidFill>
            <a:srgbClr val="162444"/>
          </a:solidFill>
          <a:ln w="12700">
            <a:solidFill>
              <a:srgbClr val="162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3992" y="2999232"/>
            <a:ext cx="493776" cy="493776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7909560" y="3657600"/>
            <a:ext cx="685800" cy="6858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0" y="3794760"/>
            <a:ext cx="411480" cy="41148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6492240" y="4160520"/>
            <a:ext cx="594360" cy="594360"/>
          </a:xfrm>
          <a:prstGeom prst="ellipse">
            <a:avLst/>
          </a:prstGeom>
          <a:solidFill>
            <a:srgbClr val="1A3259"/>
          </a:solidFill>
          <a:ln w="12700">
            <a:solidFill>
              <a:srgbClr val="1A325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1112" y="4279392"/>
            <a:ext cx="356616" cy="35661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274320" y="5029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kern="0" spc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5600" dirty="0"/>
          </a:p>
        </p:txBody>
      </p:sp>
      <p:sp>
        <p:nvSpPr>
          <p:cNvPr id="16" name="Text 9"/>
          <p:cNvSpPr/>
          <p:nvPr/>
        </p:nvSpPr>
        <p:spPr>
          <a:xfrm>
            <a:off x="274320" y="12801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SYSTEM</a:t>
            </a:r>
            <a:endParaRPr lang="en-US" sz="3400" dirty="0"/>
          </a:p>
        </p:txBody>
      </p:sp>
      <p:sp>
        <p:nvSpPr>
          <p:cNvPr id="17" name="Shape 10"/>
          <p:cNvSpPr/>
          <p:nvPr/>
        </p:nvSpPr>
        <p:spPr>
          <a:xfrm>
            <a:off x="274320" y="2011680"/>
            <a:ext cx="493776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1"/>
          <p:cNvSpPr/>
          <p:nvPr/>
        </p:nvSpPr>
        <p:spPr>
          <a:xfrm>
            <a:off x="274320" y="21031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Full Stack Insurance Management Platform</a:t>
            </a:r>
            <a:endParaRPr lang="en-US" sz="1500" dirty="0"/>
          </a:p>
        </p:txBody>
      </p:sp>
      <p:sp>
        <p:nvSpPr>
          <p:cNvPr id="19" name="Text 12"/>
          <p:cNvSpPr/>
          <p:nvPr/>
        </p:nvSpPr>
        <p:spPr>
          <a:xfrm>
            <a:off x="274320" y="399592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By</a:t>
            </a:r>
            <a:r>
              <a:rPr lang="en-US" sz="11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100" dirty="0">
              <a:solidFill>
                <a:schemeClr val="accent5"/>
              </a:solidFill>
            </a:endParaRPr>
          </a:p>
        </p:txBody>
      </p:sp>
      <p:sp>
        <p:nvSpPr>
          <p:cNvPr id="20" name="Text 13"/>
          <p:cNvSpPr/>
          <p:nvPr/>
        </p:nvSpPr>
        <p:spPr>
          <a:xfrm>
            <a:off x="1434905" y="408033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Kommawar Srinidhi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</a:t>
            </a:r>
            <a:r>
              <a:rPr lang="en-US" sz="1200" dirty="0">
                <a:solidFill>
                  <a:schemeClr val="bg1"/>
                </a:solidFill>
              </a:rPr>
              <a:t>Intern at Hartford India</a:t>
            </a:r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274320" y="311810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1691640" y="311810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274320" y="37947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1440180" y="37673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274320" y="395935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274320" y="46817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70F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82296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46304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8229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0" y="566928"/>
            <a:ext cx="9144000" cy="5029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70F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274320" y="4974336"/>
            <a:ext cx="8321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Insurance System  ·  .NET 8 + Angular (v20+)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201168" y="749808"/>
            <a:ext cx="512064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201168" y="749808"/>
            <a:ext cx="59436" cy="404164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384048" y="85953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84048" y="1170432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web application automating the entire lifecycle of property insurance — from customer onboarding through risk calculation to claim settlement and rewards.</a:t>
            </a:r>
            <a:endParaRPr lang="en-US" sz="115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847088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40080" y="18288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Registration &amp; Login</a:t>
            </a:r>
            <a:endParaRPr lang="en-US" sz="11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176272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0080" y="215798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Browsing &amp; Request Submission</a:t>
            </a:r>
            <a:endParaRPr lang="en-US" sz="11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505456"/>
            <a:ext cx="201168" cy="20116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2487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Assignment &amp; Risk Calculation</a:t>
            </a:r>
            <a:endParaRPr lang="en-US" sz="11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834640"/>
            <a:ext cx="201168" cy="20116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40080" y="28163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Approval Workflow</a:t>
            </a:r>
            <a:endParaRPr lang="en-US" sz="11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163824"/>
            <a:ext cx="201168" cy="20116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40080" y="314553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Filing &amp; Verification</a:t>
            </a:r>
            <a:endParaRPr lang="en-US" sz="110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493008"/>
            <a:ext cx="201168" cy="20116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40080" y="34747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Generation</a:t>
            </a:r>
            <a:endParaRPr lang="en-US" sz="110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822192"/>
            <a:ext cx="201168" cy="201168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640080" y="38039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Reward System</a:t>
            </a:r>
            <a:endParaRPr lang="en-US" sz="1100" dirty="0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151376"/>
            <a:ext cx="201168" cy="201168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640080" y="41330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/ Dark Mode UI</a:t>
            </a:r>
            <a:endParaRPr lang="en-US" sz="1100" dirty="0"/>
          </a:p>
        </p:txBody>
      </p:sp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480560"/>
            <a:ext cx="201168" cy="201168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640080" y="44622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Notifications</a:t>
            </a:r>
            <a:endParaRPr lang="en-US" sz="1100" dirty="0"/>
          </a:p>
        </p:txBody>
      </p:sp>
      <p:sp>
        <p:nvSpPr>
          <p:cNvPr id="31" name="Shape 19"/>
          <p:cNvSpPr/>
          <p:nvPr/>
        </p:nvSpPr>
        <p:spPr>
          <a:xfrm>
            <a:off x="5541264" y="749808"/>
            <a:ext cx="1554480" cy="177393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Text 20"/>
          <p:cNvSpPr/>
          <p:nvPr/>
        </p:nvSpPr>
        <p:spPr>
          <a:xfrm>
            <a:off x="5541264" y="109728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33" name="Text 21"/>
          <p:cNvSpPr/>
          <p:nvPr/>
        </p:nvSpPr>
        <p:spPr>
          <a:xfrm>
            <a:off x="5541264" y="1792224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000" dirty="0"/>
          </a:p>
        </p:txBody>
      </p:sp>
      <p:sp>
        <p:nvSpPr>
          <p:cNvPr id="34" name="Shape 22"/>
          <p:cNvSpPr/>
          <p:nvPr/>
        </p:nvSpPr>
        <p:spPr>
          <a:xfrm>
            <a:off x="7260336" y="749808"/>
            <a:ext cx="1554480" cy="17739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Text 23"/>
          <p:cNvSpPr/>
          <p:nvPr/>
        </p:nvSpPr>
        <p:spPr>
          <a:xfrm>
            <a:off x="7260336" y="109728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</a:t>
            </a:r>
            <a:endParaRPr lang="en-US" sz="3600" dirty="0"/>
          </a:p>
        </p:txBody>
      </p:sp>
      <p:sp>
        <p:nvSpPr>
          <p:cNvPr id="36" name="Text 24"/>
          <p:cNvSpPr/>
          <p:nvPr/>
        </p:nvSpPr>
        <p:spPr>
          <a:xfrm>
            <a:off x="7260336" y="1792224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000" dirty="0"/>
          </a:p>
        </p:txBody>
      </p:sp>
      <p:sp>
        <p:nvSpPr>
          <p:cNvPr id="37" name="Shape 25"/>
          <p:cNvSpPr/>
          <p:nvPr/>
        </p:nvSpPr>
        <p:spPr>
          <a:xfrm>
            <a:off x="5541264" y="2706624"/>
            <a:ext cx="1554480" cy="1773936"/>
          </a:xfrm>
          <a:prstGeom prst="rect">
            <a:avLst/>
          </a:prstGeom>
          <a:solidFill>
            <a:srgbClr val="1A3259"/>
          </a:solidFill>
          <a:ln w="12700">
            <a:solidFill>
              <a:srgbClr val="1A3259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Text 26"/>
          <p:cNvSpPr/>
          <p:nvPr/>
        </p:nvSpPr>
        <p:spPr>
          <a:xfrm>
            <a:off x="5541264" y="3054096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600" dirty="0"/>
          </a:p>
        </p:txBody>
      </p:sp>
      <p:sp>
        <p:nvSpPr>
          <p:cNvPr id="39" name="Text 27"/>
          <p:cNvSpPr/>
          <p:nvPr/>
        </p:nvSpPr>
        <p:spPr>
          <a:xfrm>
            <a:off x="5541264" y="374904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Entities</a:t>
            </a:r>
            <a:endParaRPr lang="en-US" sz="1000" dirty="0"/>
          </a:p>
        </p:txBody>
      </p:sp>
      <p:sp>
        <p:nvSpPr>
          <p:cNvPr id="40" name="Shape 28"/>
          <p:cNvSpPr/>
          <p:nvPr/>
        </p:nvSpPr>
        <p:spPr>
          <a:xfrm>
            <a:off x="7260336" y="2706624"/>
            <a:ext cx="1554480" cy="17739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Text 29"/>
          <p:cNvSpPr/>
          <p:nvPr/>
        </p:nvSpPr>
        <p:spPr>
          <a:xfrm>
            <a:off x="7260336" y="3054096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18+</a:t>
            </a:r>
            <a:endParaRPr lang="en-US" sz="3600" dirty="0"/>
          </a:p>
        </p:txBody>
      </p:sp>
      <p:sp>
        <p:nvSpPr>
          <p:cNvPr id="42" name="Text 30"/>
          <p:cNvSpPr/>
          <p:nvPr/>
        </p:nvSpPr>
        <p:spPr>
          <a:xfrm>
            <a:off x="7260336" y="374904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Features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70F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82296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46304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8229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Clean Architecture (4-Layer)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0" y="566928"/>
            <a:ext cx="9144000" cy="5029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70F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274320" y="4974336"/>
            <a:ext cx="8321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Insurance System  ·   .NET 8 + Angular (v20+)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256032" y="786384"/>
            <a:ext cx="4114800" cy="658368"/>
          </a:xfrm>
          <a:prstGeom prst="rect">
            <a:avLst/>
          </a:prstGeom>
          <a:solidFill>
            <a:srgbClr val="0D1B3E"/>
          </a:solidFill>
          <a:ln/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914400"/>
            <a:ext cx="393192" cy="3931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41248" y="85039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Layer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841248" y="1152144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· Enums · BaseEntity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696212" y="14538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57200" y="1664208"/>
            <a:ext cx="3657600" cy="658368"/>
          </a:xfrm>
          <a:prstGeom prst="rect">
            <a:avLst/>
          </a:prstGeom>
          <a:solidFill>
            <a:srgbClr val="0D9488"/>
          </a:solidFill>
          <a:ln/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1792224"/>
            <a:ext cx="393192" cy="39319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42416" y="172821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1042416" y="202996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· DTOs · Business Logic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1737360" y="23317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58368" y="2542032"/>
            <a:ext cx="3200400" cy="658368"/>
          </a:xfrm>
          <a:prstGeom prst="rect">
            <a:avLst/>
          </a:prstGeom>
          <a:solidFill>
            <a:srgbClr val="162444"/>
          </a:solidFill>
          <a:ln/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" y="2670048"/>
            <a:ext cx="393192" cy="39319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43584" y="26060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Layer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1243584" y="290779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DbContext · AuthService · JwtToken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1778508" y="320954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59536" y="3419856"/>
            <a:ext cx="2743200" cy="658368"/>
          </a:xfrm>
          <a:prstGeom prst="rect">
            <a:avLst/>
          </a:prstGeom>
          <a:solidFill>
            <a:srgbClr val="1A3259"/>
          </a:solidFill>
          <a:ln/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9264" y="3547872"/>
            <a:ext cx="393192" cy="39319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444752" y="348386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1444752" y="378561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Controllers · 25+ Endpoints · Swagger</a:t>
            </a:r>
            <a:endParaRPr lang="en-US" sz="1000" dirty="0"/>
          </a:p>
        </p:txBody>
      </p:sp>
      <p:sp>
        <p:nvSpPr>
          <p:cNvPr id="30" name="Text 22"/>
          <p:cNvSpPr/>
          <p:nvPr/>
        </p:nvSpPr>
        <p:spPr>
          <a:xfrm>
            <a:off x="566928" y="4384548"/>
            <a:ext cx="4023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1" name="Shape 23"/>
          <p:cNvSpPr/>
          <p:nvPr/>
        </p:nvSpPr>
        <p:spPr>
          <a:xfrm>
            <a:off x="4956048" y="786384"/>
            <a:ext cx="39776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24"/>
          <p:cNvSpPr/>
          <p:nvPr/>
        </p:nvSpPr>
        <p:spPr>
          <a:xfrm>
            <a:off x="4956048" y="786384"/>
            <a:ext cx="59436" cy="76809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25"/>
          <p:cNvSpPr/>
          <p:nvPr/>
        </p:nvSpPr>
        <p:spPr>
          <a:xfrm>
            <a:off x="5084064" y="960120"/>
            <a:ext cx="420624" cy="42062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8189" y="1044245"/>
            <a:ext cx="252374" cy="252374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5577840" y="87782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Concerns</a:t>
            </a:r>
            <a:endParaRPr lang="en-US" sz="1200" dirty="0"/>
          </a:p>
        </p:txBody>
      </p:sp>
      <p:sp>
        <p:nvSpPr>
          <p:cNvPr id="36" name="Text 27"/>
          <p:cNvSpPr/>
          <p:nvPr/>
        </p:nvSpPr>
        <p:spPr>
          <a:xfrm>
            <a:off x="5577840" y="118872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has a single defined role</a:t>
            </a:r>
            <a:endParaRPr lang="en-US" sz="1000" dirty="0"/>
          </a:p>
        </p:txBody>
      </p:sp>
      <p:sp>
        <p:nvSpPr>
          <p:cNvPr id="37" name="Shape 28"/>
          <p:cNvSpPr/>
          <p:nvPr/>
        </p:nvSpPr>
        <p:spPr>
          <a:xfrm>
            <a:off x="4956048" y="1709928"/>
            <a:ext cx="39776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29"/>
          <p:cNvSpPr/>
          <p:nvPr/>
        </p:nvSpPr>
        <p:spPr>
          <a:xfrm>
            <a:off x="4956048" y="1709928"/>
            <a:ext cx="59436" cy="76809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30"/>
          <p:cNvSpPr/>
          <p:nvPr/>
        </p:nvSpPr>
        <p:spPr>
          <a:xfrm>
            <a:off x="5084064" y="1883664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68189" y="1967789"/>
            <a:ext cx="252374" cy="252374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5577840" y="180136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&amp; Maintainable</a:t>
            </a:r>
            <a:endParaRPr lang="en-US" sz="1200" dirty="0"/>
          </a:p>
        </p:txBody>
      </p:sp>
      <p:sp>
        <p:nvSpPr>
          <p:cNvPr id="42" name="Text 32"/>
          <p:cNvSpPr/>
          <p:nvPr/>
        </p:nvSpPr>
        <p:spPr>
          <a:xfrm>
            <a:off x="5577840" y="211226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features without breaking existing code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4956048" y="2633472"/>
            <a:ext cx="39776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Shape 34"/>
          <p:cNvSpPr/>
          <p:nvPr/>
        </p:nvSpPr>
        <p:spPr>
          <a:xfrm>
            <a:off x="4956048" y="2633472"/>
            <a:ext cx="59436" cy="768096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Shape 35"/>
          <p:cNvSpPr/>
          <p:nvPr/>
        </p:nvSpPr>
        <p:spPr>
          <a:xfrm>
            <a:off x="5084064" y="2807208"/>
            <a:ext cx="420624" cy="420624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68189" y="2891333"/>
            <a:ext cx="252374" cy="252374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5577840" y="272491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Design</a:t>
            </a:r>
            <a:endParaRPr lang="en-US" sz="1200" dirty="0"/>
          </a:p>
        </p:txBody>
      </p:sp>
      <p:sp>
        <p:nvSpPr>
          <p:cNvPr id="48" name="Text 37"/>
          <p:cNvSpPr/>
          <p:nvPr/>
        </p:nvSpPr>
        <p:spPr>
          <a:xfrm>
            <a:off x="5577840" y="303580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Industry-standard pattern for large systems</a:t>
            </a:r>
            <a:endParaRPr lang="en-US" sz="1000" dirty="0"/>
          </a:p>
        </p:txBody>
      </p:sp>
      <p:sp>
        <p:nvSpPr>
          <p:cNvPr id="49" name="Shape 38"/>
          <p:cNvSpPr/>
          <p:nvPr/>
        </p:nvSpPr>
        <p:spPr>
          <a:xfrm>
            <a:off x="4956048" y="3557016"/>
            <a:ext cx="39776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0" name="Shape 39"/>
          <p:cNvSpPr/>
          <p:nvPr/>
        </p:nvSpPr>
        <p:spPr>
          <a:xfrm>
            <a:off x="4956048" y="3557016"/>
            <a:ext cx="59436" cy="76809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Shape 40"/>
          <p:cNvSpPr/>
          <p:nvPr/>
        </p:nvSpPr>
        <p:spPr>
          <a:xfrm>
            <a:off x="5084064" y="3730752"/>
            <a:ext cx="420624" cy="42062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2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68189" y="3814877"/>
            <a:ext cx="252374" cy="252374"/>
          </a:xfrm>
          <a:prstGeom prst="rect">
            <a:avLst/>
          </a:prstGeom>
        </p:spPr>
      </p:pic>
      <p:sp>
        <p:nvSpPr>
          <p:cNvPr id="53" name="Text 41"/>
          <p:cNvSpPr/>
          <p:nvPr/>
        </p:nvSpPr>
        <p:spPr>
          <a:xfrm>
            <a:off x="5577840" y="364845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Testable</a:t>
            </a:r>
            <a:endParaRPr lang="en-US" sz="1200" dirty="0"/>
          </a:p>
        </p:txBody>
      </p:sp>
      <p:sp>
        <p:nvSpPr>
          <p:cNvPr id="54" name="Text 42"/>
          <p:cNvSpPr/>
          <p:nvPr/>
        </p:nvSpPr>
        <p:spPr>
          <a:xfrm>
            <a:off x="5577840" y="395935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fully isolated for xUnit tests with 61 Test Cases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70F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82296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46304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8229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0" y="566928"/>
            <a:ext cx="9144000" cy="5029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70F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274320" y="4974336"/>
            <a:ext cx="8321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Insurance System  ·  .NET 8 + Angular (v20+)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201168" y="749808"/>
            <a:ext cx="4160520" cy="40416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292608" y="85953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92608" y="1216152"/>
            <a:ext cx="3977640" cy="274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11480" y="1389888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585216" y="136245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 /  .NET 8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11480" y="1719072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585216" y="169164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Web API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11480" y="2048256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85216" y="202082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11480" y="2377440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585216" y="235000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11480" y="2706624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585216" y="267919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11480" y="3035808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585216" y="300837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411480" y="3364992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585216" y="333756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411480" y="3694176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585216" y="366674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xUnit Testing (4 Projects)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4782312" y="749808"/>
            <a:ext cx="4160520" cy="4041648"/>
          </a:xfrm>
          <a:prstGeom prst="rect">
            <a:avLst/>
          </a:prstGeom>
          <a:solidFill>
            <a:srgbClr val="1A3259"/>
          </a:solidFill>
          <a:ln w="12700">
            <a:solidFill>
              <a:srgbClr val="1A3259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9" name="Text 26"/>
          <p:cNvSpPr/>
          <p:nvPr/>
        </p:nvSpPr>
        <p:spPr>
          <a:xfrm>
            <a:off x="4873752" y="85953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873752" y="1216152"/>
            <a:ext cx="3977640" cy="274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8"/>
          <p:cNvSpPr/>
          <p:nvPr/>
        </p:nvSpPr>
        <p:spPr>
          <a:xfrm>
            <a:off x="4919472" y="1389888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5093208" y="136245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(v20+) 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4919472" y="1719072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5093208" y="169164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4919472" y="2048256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5093208" y="202082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RxJS &amp; State Management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4919472" y="2377440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5093208" y="235000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HttpClient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4919472" y="2706624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5093208" y="267919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4919472" y="3035808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39"/>
          <p:cNvSpPr/>
          <p:nvPr/>
        </p:nvSpPr>
        <p:spPr>
          <a:xfrm>
            <a:off x="5093208" y="300837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Auth Guards</a:t>
            </a:r>
            <a:endParaRPr lang="en-US" sz="1150" dirty="0"/>
          </a:p>
        </p:txBody>
      </p:sp>
      <p:sp>
        <p:nvSpPr>
          <p:cNvPr id="43" name="Shape 40"/>
          <p:cNvSpPr/>
          <p:nvPr/>
        </p:nvSpPr>
        <p:spPr>
          <a:xfrm>
            <a:off x="4919472" y="3364992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1"/>
          <p:cNvSpPr/>
          <p:nvPr/>
        </p:nvSpPr>
        <p:spPr>
          <a:xfrm>
            <a:off x="5093208" y="333756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093208" y="366674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70F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82296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46304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8229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Layer — Core Business Entities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0" y="566928"/>
            <a:ext cx="9144000" cy="5029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70F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274320" y="4974336"/>
            <a:ext cx="8321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Insurance System  ··  .NET 8 + Angular (v20+)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256032" y="76809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Core Entities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201168" y="1060704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201168" y="1060704"/>
            <a:ext cx="59436" cy="47548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365760" y="1170432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ApplicationUser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779776" y="1060704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2779776" y="1060704"/>
            <a:ext cx="59436" cy="47548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2944368" y="1170432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PolicyRequest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01168" y="168249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201168" y="1682496"/>
            <a:ext cx="59436" cy="47548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365760" y="1792224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PropertyCategory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779776" y="168249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2779776" y="1682496"/>
            <a:ext cx="59436" cy="47548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2944368" y="1792224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PropertySubCategory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01168" y="2304288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201168" y="2304288"/>
            <a:ext cx="59436" cy="47548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365760" y="2414016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PropertyPlans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2779776" y="2304288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3"/>
          <p:cNvSpPr/>
          <p:nvPr/>
        </p:nvSpPr>
        <p:spPr>
          <a:xfrm>
            <a:off x="2779776" y="2304288"/>
            <a:ext cx="59436" cy="47548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2944368" y="2414016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201168" y="292608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6"/>
          <p:cNvSpPr/>
          <p:nvPr/>
        </p:nvSpPr>
        <p:spPr>
          <a:xfrm>
            <a:off x="201168" y="2926080"/>
            <a:ext cx="59436" cy="47548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365760" y="30358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2779776" y="292608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29"/>
          <p:cNvSpPr/>
          <p:nvPr/>
        </p:nvSpPr>
        <p:spPr>
          <a:xfrm>
            <a:off x="2779776" y="2926080"/>
            <a:ext cx="59436" cy="47548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2944368" y="30358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201168" y="3547872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2"/>
          <p:cNvSpPr/>
          <p:nvPr/>
        </p:nvSpPr>
        <p:spPr>
          <a:xfrm>
            <a:off x="201168" y="3547872"/>
            <a:ext cx="59436" cy="47548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365760" y="3657600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RefreshToken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2779776" y="3547872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5"/>
          <p:cNvSpPr/>
          <p:nvPr/>
        </p:nvSpPr>
        <p:spPr>
          <a:xfrm>
            <a:off x="2779776" y="3547872"/>
            <a:ext cx="59436" cy="47548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6"/>
          <p:cNvSpPr/>
          <p:nvPr/>
        </p:nvSpPr>
        <p:spPr>
          <a:xfrm>
            <a:off x="2944368" y="3657600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BaseEntity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256032" y="426110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Enums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201168" y="4498848"/>
            <a:ext cx="1170432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39"/>
          <p:cNvSpPr/>
          <p:nvPr/>
        </p:nvSpPr>
        <p:spPr>
          <a:xfrm>
            <a:off x="246888" y="4498848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UserRole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1481328" y="4498848"/>
            <a:ext cx="1170432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1"/>
          <p:cNvSpPr/>
          <p:nvPr/>
        </p:nvSpPr>
        <p:spPr>
          <a:xfrm>
            <a:off x="1527048" y="4498848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PolicyRequestStatus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2761488" y="4498848"/>
            <a:ext cx="1170432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3"/>
          <p:cNvSpPr/>
          <p:nvPr/>
        </p:nvSpPr>
        <p:spPr>
          <a:xfrm>
            <a:off x="2807208" y="4498848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ClaimStatus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4041648" y="4498848"/>
            <a:ext cx="1170432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5"/>
          <p:cNvSpPr/>
          <p:nvPr/>
        </p:nvSpPr>
        <p:spPr>
          <a:xfrm>
            <a:off x="4087368" y="4498848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PremiumFrequency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5449824" y="768096"/>
            <a:ext cx="3474720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0" name="Shape 47"/>
          <p:cNvSpPr/>
          <p:nvPr/>
        </p:nvSpPr>
        <p:spPr>
          <a:xfrm>
            <a:off x="5449824" y="768096"/>
            <a:ext cx="59436" cy="113385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Shape 48"/>
          <p:cNvSpPr/>
          <p:nvPr/>
        </p:nvSpPr>
        <p:spPr>
          <a:xfrm>
            <a:off x="5577840" y="859536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5622" y="947318"/>
            <a:ext cx="263347" cy="263347"/>
          </a:xfrm>
          <a:prstGeom prst="rect">
            <a:avLst/>
          </a:prstGeom>
        </p:spPr>
      </p:pic>
      <p:sp>
        <p:nvSpPr>
          <p:cNvPr id="53" name="Text 49"/>
          <p:cNvSpPr/>
          <p:nvPr/>
        </p:nvSpPr>
        <p:spPr>
          <a:xfrm>
            <a:off x="6089904" y="841248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BaseEntity</a:t>
            </a:r>
            <a:endParaRPr lang="en-US" sz="1300" dirty="0"/>
          </a:p>
        </p:txBody>
      </p:sp>
      <p:sp>
        <p:nvSpPr>
          <p:cNvPr id="54" name="Text 50"/>
          <p:cNvSpPr/>
          <p:nvPr/>
        </p:nvSpPr>
        <p:spPr>
          <a:xfrm>
            <a:off x="6089904" y="1133856"/>
            <a:ext cx="2706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timestamps &amp; soft delete for all entities</a:t>
            </a:r>
            <a:endParaRPr lang="en-US" sz="1050" dirty="0"/>
          </a:p>
        </p:txBody>
      </p:sp>
      <p:sp>
        <p:nvSpPr>
          <p:cNvPr id="55" name="Shape 51"/>
          <p:cNvSpPr/>
          <p:nvPr/>
        </p:nvSpPr>
        <p:spPr>
          <a:xfrm>
            <a:off x="5449824" y="2103120"/>
            <a:ext cx="3474720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6" name="Shape 52"/>
          <p:cNvSpPr/>
          <p:nvPr/>
        </p:nvSpPr>
        <p:spPr>
          <a:xfrm>
            <a:off x="5449824" y="2103120"/>
            <a:ext cx="59436" cy="113385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Shape 53"/>
          <p:cNvSpPr/>
          <p:nvPr/>
        </p:nvSpPr>
        <p:spPr>
          <a:xfrm>
            <a:off x="5577840" y="2194560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5622" y="2282342"/>
            <a:ext cx="263347" cy="263347"/>
          </a:xfrm>
          <a:prstGeom prst="rect">
            <a:avLst/>
          </a:prstGeom>
        </p:spPr>
      </p:pic>
      <p:sp>
        <p:nvSpPr>
          <p:cNvPr id="59" name="Text 54"/>
          <p:cNvSpPr/>
          <p:nvPr/>
        </p:nvSpPr>
        <p:spPr>
          <a:xfrm>
            <a:off x="6089904" y="2176272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300" dirty="0"/>
          </a:p>
        </p:txBody>
      </p:sp>
      <p:sp>
        <p:nvSpPr>
          <p:cNvPr id="60" name="Text 55"/>
          <p:cNvSpPr/>
          <p:nvPr/>
        </p:nvSpPr>
        <p:spPr>
          <a:xfrm>
            <a:off x="6089904" y="2468880"/>
            <a:ext cx="2706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Properly configured FK chains via EF Core</a:t>
            </a:r>
            <a:endParaRPr lang="en-US" sz="1050" dirty="0"/>
          </a:p>
        </p:txBody>
      </p:sp>
      <p:sp>
        <p:nvSpPr>
          <p:cNvPr id="61" name="Shape 56"/>
          <p:cNvSpPr/>
          <p:nvPr/>
        </p:nvSpPr>
        <p:spPr>
          <a:xfrm>
            <a:off x="5449824" y="3438144"/>
            <a:ext cx="3474720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2" name="Shape 57"/>
          <p:cNvSpPr/>
          <p:nvPr/>
        </p:nvSpPr>
        <p:spPr>
          <a:xfrm>
            <a:off x="5449824" y="3438144"/>
            <a:ext cx="59436" cy="1133856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Shape 58"/>
          <p:cNvSpPr/>
          <p:nvPr/>
        </p:nvSpPr>
        <p:spPr>
          <a:xfrm>
            <a:off x="5577840" y="3529584"/>
            <a:ext cx="438912" cy="438912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5622" y="3617366"/>
            <a:ext cx="263347" cy="263347"/>
          </a:xfrm>
          <a:prstGeom prst="rect">
            <a:avLst/>
          </a:prstGeom>
        </p:spPr>
      </p:pic>
      <p:sp>
        <p:nvSpPr>
          <p:cNvPr id="65" name="Text 59"/>
          <p:cNvSpPr/>
          <p:nvPr/>
        </p:nvSpPr>
        <p:spPr>
          <a:xfrm>
            <a:off x="6089904" y="3511296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Safety</a:t>
            </a:r>
            <a:endParaRPr lang="en-US" sz="1300" dirty="0"/>
          </a:p>
        </p:txBody>
      </p:sp>
      <p:sp>
        <p:nvSpPr>
          <p:cNvPr id="66" name="Text 60"/>
          <p:cNvSpPr/>
          <p:nvPr/>
        </p:nvSpPr>
        <p:spPr>
          <a:xfrm>
            <a:off x="6089904" y="3803904"/>
            <a:ext cx="2706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Enum-driven status fields for predictable state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70F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82296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46304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8229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 — Interfaces &amp; DTOs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0" y="566928"/>
            <a:ext cx="9144000" cy="5029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70F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274320" y="4974336"/>
            <a:ext cx="8321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Insurance System  ·  .NET 8 + Angular (v20+)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201168" y="749808"/>
            <a:ext cx="274320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0" name="Shape 7"/>
          <p:cNvSpPr/>
          <p:nvPr/>
        </p:nvSpPr>
        <p:spPr>
          <a:xfrm>
            <a:off x="201168" y="749808"/>
            <a:ext cx="59436" cy="16276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384048" y="85953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11480" y="1261872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576072" y="122529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IAuthService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11480" y="1627632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576072" y="159105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ICategoryService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3072384" y="749808"/>
            <a:ext cx="5870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Data Transfer Objects (DTOs)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3072384" y="1060704"/>
            <a:ext cx="26517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3072384" y="1060704"/>
            <a:ext cx="59436" cy="45720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3236976" y="117043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RegisterRequestDto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943600" y="1060704"/>
            <a:ext cx="26517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5943600" y="1060704"/>
            <a:ext cx="59436" cy="45720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6108192" y="117043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LoginRequestDto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3072384" y="1645920"/>
            <a:ext cx="26517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3072384" y="1645920"/>
            <a:ext cx="59436" cy="45720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3236976" y="175564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AuthResponseDto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5943600" y="1645920"/>
            <a:ext cx="26517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4"/>
          <p:cNvSpPr/>
          <p:nvPr/>
        </p:nvSpPr>
        <p:spPr>
          <a:xfrm>
            <a:off x="5943600" y="1645920"/>
            <a:ext cx="59436" cy="45720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6108192" y="175564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CreatePolicyRequestDto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3072384" y="2231136"/>
            <a:ext cx="26517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7"/>
          <p:cNvSpPr/>
          <p:nvPr/>
        </p:nvSpPr>
        <p:spPr>
          <a:xfrm>
            <a:off x="3072384" y="2231136"/>
            <a:ext cx="59436" cy="45720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3236976" y="234086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CreateClaimDto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5943600" y="2231136"/>
            <a:ext cx="26517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0"/>
          <p:cNvSpPr/>
          <p:nvPr/>
        </p:nvSpPr>
        <p:spPr>
          <a:xfrm>
            <a:off x="5943600" y="2231136"/>
            <a:ext cx="59436" cy="45720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6108192" y="234086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VerifyClaimDto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3072384" y="2816352"/>
            <a:ext cx="26517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3"/>
          <p:cNvSpPr/>
          <p:nvPr/>
        </p:nvSpPr>
        <p:spPr>
          <a:xfrm>
            <a:off x="3072384" y="2816352"/>
            <a:ext cx="59436" cy="45720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4"/>
          <p:cNvSpPr/>
          <p:nvPr/>
        </p:nvSpPr>
        <p:spPr>
          <a:xfrm>
            <a:off x="3236976" y="292608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CategoryResponseDto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5943600" y="2816352"/>
            <a:ext cx="26517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6"/>
          <p:cNvSpPr/>
          <p:nvPr/>
        </p:nvSpPr>
        <p:spPr>
          <a:xfrm>
            <a:off x="5943600" y="2816352"/>
            <a:ext cx="59436" cy="45720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6108192" y="292608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PolicyRequestResponseDto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3072384" y="3401568"/>
            <a:ext cx="2651760" cy="457200"/>
          </a:xfrm>
          <a:prstGeom prst="rect">
            <a:avLst/>
          </a:prstGeom>
          <a:solidFill>
            <a:srgbClr val="F0FDF4"/>
          </a:solidFill>
          <a:ln w="12700">
            <a:solidFill>
              <a:srgbClr val="0D9488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Shape 39"/>
          <p:cNvSpPr/>
          <p:nvPr/>
        </p:nvSpPr>
        <p:spPr>
          <a:xfrm>
            <a:off x="3072384" y="3401568"/>
            <a:ext cx="59436" cy="4572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0"/>
          <p:cNvSpPr/>
          <p:nvPr/>
        </p:nvSpPr>
        <p:spPr>
          <a:xfrm>
            <a:off x="3236976" y="351129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+ 8 more DTOs...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201168" y="4517136"/>
            <a:ext cx="2542032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2"/>
          <p:cNvSpPr/>
          <p:nvPr/>
        </p:nvSpPr>
        <p:spPr>
          <a:xfrm>
            <a:off x="274320" y="4535424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Exposure:  DTOs hide sensitive entity fields from clients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2962656" y="4517136"/>
            <a:ext cx="2542032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4"/>
          <p:cNvSpPr/>
          <p:nvPr/>
        </p:nvSpPr>
        <p:spPr>
          <a:xfrm>
            <a:off x="3035808" y="4535424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Separation:  Entities never leave the domain layer boundary</a:t>
            </a:r>
            <a:endParaRPr lang="en-US" sz="950" dirty="0"/>
          </a:p>
        </p:txBody>
      </p:sp>
      <p:sp>
        <p:nvSpPr>
          <p:cNvPr id="50" name="Shape 39">
            <a:extLst>
              <a:ext uri="{FF2B5EF4-FFF2-40B4-BE49-F238E27FC236}">
                <a16:creationId xmlns:a16="http://schemas.microsoft.com/office/drawing/2014/main" id="{62FA4BBC-0EE2-1987-9CBC-5CA36965FC0E}"/>
              </a:ext>
            </a:extLst>
          </p:cNvPr>
          <p:cNvSpPr/>
          <p:nvPr/>
        </p:nvSpPr>
        <p:spPr>
          <a:xfrm>
            <a:off x="214884" y="2614481"/>
            <a:ext cx="59436" cy="4572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Shape 38">
            <a:extLst>
              <a:ext uri="{FF2B5EF4-FFF2-40B4-BE49-F238E27FC236}">
                <a16:creationId xmlns:a16="http://schemas.microsoft.com/office/drawing/2014/main" id="{6D01DC45-99A2-5C34-212A-F3DB17F67387}"/>
              </a:ext>
            </a:extLst>
          </p:cNvPr>
          <p:cNvSpPr/>
          <p:nvPr/>
        </p:nvSpPr>
        <p:spPr>
          <a:xfrm>
            <a:off x="269748" y="2624328"/>
            <a:ext cx="2651760" cy="457200"/>
          </a:xfrm>
          <a:prstGeom prst="rect">
            <a:avLst/>
          </a:prstGeom>
          <a:solidFill>
            <a:srgbClr val="F0FDF4"/>
          </a:solidFill>
          <a:ln w="12700">
            <a:solidFill>
              <a:srgbClr val="0D9488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53" name="Text 40">
            <a:extLst>
              <a:ext uri="{FF2B5EF4-FFF2-40B4-BE49-F238E27FC236}">
                <a16:creationId xmlns:a16="http://schemas.microsoft.com/office/drawing/2014/main" id="{89B4195B-D001-5548-52E2-898A149A95A9}"/>
              </a:ext>
            </a:extLst>
          </p:cNvPr>
          <p:cNvSpPr/>
          <p:nvPr/>
        </p:nvSpPr>
        <p:spPr>
          <a:xfrm>
            <a:off x="439967" y="2723857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+ 10 more Services...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70F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82296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46304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8229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Layer — Services &amp; Data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0" y="566928"/>
            <a:ext cx="9144000" cy="5029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201168" y="749808"/>
            <a:ext cx="2779776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201168" y="749808"/>
            <a:ext cx="59436" cy="404164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310896" y="841248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363" y="921715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86384" y="877824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ApplicationDbContext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10896" y="1335024"/>
            <a:ext cx="2560320" cy="274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384048" y="1481328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/>
          <p:nvPr/>
        </p:nvSpPr>
        <p:spPr>
          <a:xfrm>
            <a:off x="548640" y="144475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entity relationships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384048" y="1956816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/>
          <p:nvPr/>
        </p:nvSpPr>
        <p:spPr>
          <a:xfrm>
            <a:off x="548640" y="192024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email index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384048" y="2432304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/>
          <p:nvPr/>
        </p:nvSpPr>
        <p:spPr>
          <a:xfrm>
            <a:off x="548640" y="239572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data (Users, Plans)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384048" y="2907792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8"/>
          <p:cNvSpPr/>
          <p:nvPr/>
        </p:nvSpPr>
        <p:spPr>
          <a:xfrm>
            <a:off x="548640" y="287121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configurations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384048" y="3383280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0"/>
          <p:cNvSpPr/>
          <p:nvPr/>
        </p:nvSpPr>
        <p:spPr>
          <a:xfrm>
            <a:off x="548640" y="334670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 Eager Loading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3182112" y="749808"/>
            <a:ext cx="2779776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2"/>
          <p:cNvSpPr/>
          <p:nvPr/>
        </p:nvSpPr>
        <p:spPr>
          <a:xfrm>
            <a:off x="3182112" y="749808"/>
            <a:ext cx="59436" cy="404164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3"/>
          <p:cNvSpPr/>
          <p:nvPr/>
        </p:nvSpPr>
        <p:spPr>
          <a:xfrm>
            <a:off x="3291840" y="841248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2307" y="921715"/>
            <a:ext cx="241402" cy="241402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3767328" y="877824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Services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3291840" y="1335024"/>
            <a:ext cx="2560320" cy="274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6"/>
          <p:cNvSpPr/>
          <p:nvPr/>
        </p:nvSpPr>
        <p:spPr>
          <a:xfrm>
            <a:off x="3364992" y="148132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7"/>
          <p:cNvSpPr/>
          <p:nvPr/>
        </p:nvSpPr>
        <p:spPr>
          <a:xfrm>
            <a:off x="3529584" y="144475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AuthService — Register &amp; Login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3364992" y="195681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29"/>
          <p:cNvSpPr/>
          <p:nvPr/>
        </p:nvSpPr>
        <p:spPr>
          <a:xfrm>
            <a:off x="3529584" y="192024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CategoryService — Plans</a:t>
            </a:r>
            <a:endParaRPr lang="en-US" sz="1050" dirty="0"/>
          </a:p>
        </p:txBody>
      </p:sp>
      <p:sp>
        <p:nvSpPr>
          <p:cNvPr id="35" name="Shape 30"/>
          <p:cNvSpPr/>
          <p:nvPr/>
        </p:nvSpPr>
        <p:spPr>
          <a:xfrm>
            <a:off x="3364992" y="243230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1"/>
          <p:cNvSpPr/>
          <p:nvPr/>
        </p:nvSpPr>
        <p:spPr>
          <a:xfrm>
            <a:off x="3529584" y="239572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JwtTokenGenerator</a:t>
            </a:r>
            <a:endParaRPr lang="en-US" sz="1050" dirty="0"/>
          </a:p>
        </p:txBody>
      </p:sp>
      <p:sp>
        <p:nvSpPr>
          <p:cNvPr id="37" name="Shape 32"/>
          <p:cNvSpPr/>
          <p:nvPr/>
        </p:nvSpPr>
        <p:spPr>
          <a:xfrm>
            <a:off x="3364992" y="290779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3"/>
          <p:cNvSpPr/>
          <p:nvPr/>
        </p:nvSpPr>
        <p:spPr>
          <a:xfrm>
            <a:off x="3529584" y="287121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Reward Logic</a:t>
            </a:r>
            <a:endParaRPr lang="en-US" sz="1050" dirty="0"/>
          </a:p>
        </p:txBody>
      </p:sp>
      <p:sp>
        <p:nvSpPr>
          <p:cNvPr id="39" name="Shape 34"/>
          <p:cNvSpPr/>
          <p:nvPr/>
        </p:nvSpPr>
        <p:spPr>
          <a:xfrm>
            <a:off x="3364992" y="338328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5"/>
          <p:cNvSpPr/>
          <p:nvPr/>
        </p:nvSpPr>
        <p:spPr>
          <a:xfrm>
            <a:off x="3529584" y="334670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Hashing</a:t>
            </a:r>
            <a:endParaRPr lang="en-US" sz="1050" dirty="0"/>
          </a:p>
        </p:txBody>
      </p:sp>
      <p:sp>
        <p:nvSpPr>
          <p:cNvPr id="41" name="Shape 36"/>
          <p:cNvSpPr/>
          <p:nvPr/>
        </p:nvSpPr>
        <p:spPr>
          <a:xfrm>
            <a:off x="6163056" y="749808"/>
            <a:ext cx="2779776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Shape 37"/>
          <p:cNvSpPr/>
          <p:nvPr/>
        </p:nvSpPr>
        <p:spPr>
          <a:xfrm>
            <a:off x="6163056" y="749808"/>
            <a:ext cx="59436" cy="4041648"/>
          </a:xfrm>
          <a:prstGeom prst="rect">
            <a:avLst/>
          </a:prstGeom>
          <a:solidFill>
            <a:srgbClr val="162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Shape 38"/>
          <p:cNvSpPr/>
          <p:nvPr/>
        </p:nvSpPr>
        <p:spPr>
          <a:xfrm>
            <a:off x="6272784" y="841248"/>
            <a:ext cx="402336" cy="402336"/>
          </a:xfrm>
          <a:prstGeom prst="ellipse">
            <a:avLst/>
          </a:prstGeom>
          <a:solidFill>
            <a:srgbClr val="162444"/>
          </a:solidFill>
          <a:ln w="12700">
            <a:solidFill>
              <a:srgbClr val="162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3251" y="921715"/>
            <a:ext cx="241402" cy="241402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6748272" y="877824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1200" dirty="0"/>
          </a:p>
        </p:txBody>
      </p:sp>
      <p:sp>
        <p:nvSpPr>
          <p:cNvPr id="46" name="Shape 40"/>
          <p:cNvSpPr/>
          <p:nvPr/>
        </p:nvSpPr>
        <p:spPr>
          <a:xfrm>
            <a:off x="6272784" y="1335024"/>
            <a:ext cx="2560320" cy="27432"/>
          </a:xfrm>
          <a:prstGeom prst="rect">
            <a:avLst/>
          </a:prstGeom>
          <a:solidFill>
            <a:srgbClr val="162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41"/>
          <p:cNvSpPr/>
          <p:nvPr/>
        </p:nvSpPr>
        <p:spPr>
          <a:xfrm>
            <a:off x="6345936" y="1481328"/>
            <a:ext cx="91440" cy="91440"/>
          </a:xfrm>
          <a:prstGeom prst="ellipse">
            <a:avLst/>
          </a:prstGeom>
          <a:solidFill>
            <a:srgbClr val="162444"/>
          </a:solidFill>
          <a:ln w="12700">
            <a:solidFill>
              <a:srgbClr val="162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2"/>
          <p:cNvSpPr/>
          <p:nvPr/>
        </p:nvSpPr>
        <p:spPr>
          <a:xfrm>
            <a:off x="6510528" y="144475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creation &amp; refresh tokens</a:t>
            </a:r>
            <a:endParaRPr lang="en-US" sz="1050" dirty="0"/>
          </a:p>
        </p:txBody>
      </p:sp>
      <p:sp>
        <p:nvSpPr>
          <p:cNvPr id="49" name="Shape 43"/>
          <p:cNvSpPr/>
          <p:nvPr/>
        </p:nvSpPr>
        <p:spPr>
          <a:xfrm>
            <a:off x="6345936" y="1956816"/>
            <a:ext cx="91440" cy="91440"/>
          </a:xfrm>
          <a:prstGeom prst="ellipse">
            <a:avLst/>
          </a:prstGeom>
          <a:solidFill>
            <a:srgbClr val="162444"/>
          </a:solidFill>
          <a:ln w="12700">
            <a:solidFill>
              <a:srgbClr val="162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4"/>
          <p:cNvSpPr/>
          <p:nvPr/>
        </p:nvSpPr>
        <p:spPr>
          <a:xfrm>
            <a:off x="6510528" y="192024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 migrations</a:t>
            </a:r>
            <a:endParaRPr lang="en-US" sz="1050" dirty="0"/>
          </a:p>
        </p:txBody>
      </p:sp>
      <p:sp>
        <p:nvSpPr>
          <p:cNvPr id="51" name="Shape 45"/>
          <p:cNvSpPr/>
          <p:nvPr/>
        </p:nvSpPr>
        <p:spPr>
          <a:xfrm>
            <a:off x="6345936" y="2432304"/>
            <a:ext cx="91440" cy="91440"/>
          </a:xfrm>
          <a:prstGeom prst="ellipse">
            <a:avLst/>
          </a:prstGeom>
          <a:solidFill>
            <a:srgbClr val="162444"/>
          </a:solidFill>
          <a:ln w="12700">
            <a:solidFill>
              <a:srgbClr val="162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46"/>
          <p:cNvSpPr/>
          <p:nvPr/>
        </p:nvSpPr>
        <p:spPr>
          <a:xfrm>
            <a:off x="6510528" y="239572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demo data</a:t>
            </a:r>
            <a:endParaRPr lang="en-US" sz="1050" dirty="0"/>
          </a:p>
        </p:txBody>
      </p:sp>
      <p:sp>
        <p:nvSpPr>
          <p:cNvPr id="53" name="Shape 47"/>
          <p:cNvSpPr/>
          <p:nvPr/>
        </p:nvSpPr>
        <p:spPr>
          <a:xfrm>
            <a:off x="6345936" y="2907792"/>
            <a:ext cx="91440" cy="91440"/>
          </a:xfrm>
          <a:prstGeom prst="ellipse">
            <a:avLst/>
          </a:prstGeom>
          <a:solidFill>
            <a:srgbClr val="162444"/>
          </a:solidFill>
          <a:ln w="12700">
            <a:solidFill>
              <a:srgbClr val="162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48"/>
          <p:cNvSpPr/>
          <p:nvPr/>
        </p:nvSpPr>
        <p:spPr>
          <a:xfrm>
            <a:off x="6510528" y="287121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uniqueness enforce</a:t>
            </a:r>
            <a:endParaRPr lang="en-US" sz="1050" dirty="0"/>
          </a:p>
        </p:txBody>
      </p:sp>
      <p:sp>
        <p:nvSpPr>
          <p:cNvPr id="55" name="Shape 49"/>
          <p:cNvSpPr/>
          <p:nvPr/>
        </p:nvSpPr>
        <p:spPr>
          <a:xfrm>
            <a:off x="6345936" y="3383280"/>
            <a:ext cx="91440" cy="91440"/>
          </a:xfrm>
          <a:prstGeom prst="ellipse">
            <a:avLst/>
          </a:prstGeom>
          <a:solidFill>
            <a:srgbClr val="162444"/>
          </a:solidFill>
          <a:ln w="12700">
            <a:solidFill>
              <a:srgbClr val="162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0"/>
          <p:cNvSpPr/>
          <p:nvPr/>
        </p:nvSpPr>
        <p:spPr>
          <a:xfrm>
            <a:off x="6510528" y="334670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commission calc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70F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82296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46304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8229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 — 8 Controllers · 25+ Endpoints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0" y="566928"/>
            <a:ext cx="9144000" cy="5029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201168" y="749808"/>
            <a:ext cx="4261104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292608" y="877824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694944" y="896112"/>
            <a:ext cx="27432" cy="36576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795528" y="82296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AuthController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95528" y="109728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· Login · Refresh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681728" y="749808"/>
            <a:ext cx="4261104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773168" y="877824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00" dirty="0"/>
          </a:p>
        </p:txBody>
      </p:sp>
      <p:sp>
        <p:nvSpPr>
          <p:cNvPr id="16" name="Shape 13"/>
          <p:cNvSpPr/>
          <p:nvPr/>
        </p:nvSpPr>
        <p:spPr>
          <a:xfrm>
            <a:off x="5175504" y="896112"/>
            <a:ext cx="27432" cy="36576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276088" y="82296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AdminController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276088" y="109728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· Approve · Statistics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01168" y="1627632"/>
            <a:ext cx="4261104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292608" y="175564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00" dirty="0"/>
          </a:p>
        </p:txBody>
      </p:sp>
      <p:sp>
        <p:nvSpPr>
          <p:cNvPr id="21" name="Shape 18"/>
          <p:cNvSpPr/>
          <p:nvPr/>
        </p:nvSpPr>
        <p:spPr>
          <a:xfrm>
            <a:off x="694944" y="1773936"/>
            <a:ext cx="27432" cy="36576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795528" y="170078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PolicyRequestController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795528" y="197510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· Track · Manage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681728" y="1627632"/>
            <a:ext cx="4261104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4773168" y="175564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900" dirty="0"/>
          </a:p>
        </p:txBody>
      </p:sp>
      <p:sp>
        <p:nvSpPr>
          <p:cNvPr id="26" name="Shape 23"/>
          <p:cNvSpPr/>
          <p:nvPr/>
        </p:nvSpPr>
        <p:spPr>
          <a:xfrm>
            <a:off x="5175504" y="1773936"/>
            <a:ext cx="27432" cy="36576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5276088" y="170078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ClaimsController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5276088" y="197510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· Verify · Settle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201168" y="2505456"/>
            <a:ext cx="4261104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292608" y="2633472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900" dirty="0"/>
          </a:p>
        </p:txBody>
      </p:sp>
      <p:sp>
        <p:nvSpPr>
          <p:cNvPr id="31" name="Shape 28"/>
          <p:cNvSpPr/>
          <p:nvPr/>
        </p:nvSpPr>
        <p:spPr>
          <a:xfrm>
            <a:off x="694944" y="2651760"/>
            <a:ext cx="27432" cy="36576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795528" y="257860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CategoryController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795528" y="285292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&amp; Subcategories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681728" y="2505456"/>
            <a:ext cx="4261104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Text 32"/>
          <p:cNvSpPr/>
          <p:nvPr/>
        </p:nvSpPr>
        <p:spPr>
          <a:xfrm>
            <a:off x="4773168" y="2633472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900" dirty="0"/>
          </a:p>
        </p:txBody>
      </p:sp>
      <p:sp>
        <p:nvSpPr>
          <p:cNvPr id="36" name="Shape 33"/>
          <p:cNvSpPr/>
          <p:nvPr/>
        </p:nvSpPr>
        <p:spPr>
          <a:xfrm>
            <a:off x="5175504" y="2651760"/>
            <a:ext cx="27432" cy="36576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4"/>
          <p:cNvSpPr/>
          <p:nvPr/>
        </p:nvSpPr>
        <p:spPr>
          <a:xfrm>
            <a:off x="5276088" y="257860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PropertyPlansController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5276088" y="285292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· Create · Update Plans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201168" y="3383280"/>
            <a:ext cx="4261104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292608" y="3511296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900" dirty="0"/>
          </a:p>
        </p:txBody>
      </p:sp>
      <p:sp>
        <p:nvSpPr>
          <p:cNvPr id="41" name="Shape 38"/>
          <p:cNvSpPr/>
          <p:nvPr/>
        </p:nvSpPr>
        <p:spPr>
          <a:xfrm>
            <a:off x="694944" y="3529584"/>
            <a:ext cx="27432" cy="36576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39"/>
          <p:cNvSpPr/>
          <p:nvPr/>
        </p:nvSpPr>
        <p:spPr>
          <a:xfrm>
            <a:off x="795528" y="345643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InvoicesController</a:t>
            </a:r>
            <a:endParaRPr lang="en-US" sz="1250" dirty="0"/>
          </a:p>
        </p:txBody>
      </p:sp>
      <p:sp>
        <p:nvSpPr>
          <p:cNvPr id="43" name="Text 40"/>
          <p:cNvSpPr/>
          <p:nvPr/>
        </p:nvSpPr>
        <p:spPr>
          <a:xfrm>
            <a:off x="795528" y="3730752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· Download Invoices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4681728" y="3383280"/>
            <a:ext cx="4261104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5" name="Text 42"/>
          <p:cNvSpPr/>
          <p:nvPr/>
        </p:nvSpPr>
        <p:spPr>
          <a:xfrm>
            <a:off x="4773168" y="3511296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900" dirty="0"/>
          </a:p>
        </p:txBody>
      </p:sp>
      <p:sp>
        <p:nvSpPr>
          <p:cNvPr id="46" name="Shape 43"/>
          <p:cNvSpPr/>
          <p:nvPr/>
        </p:nvSpPr>
        <p:spPr>
          <a:xfrm>
            <a:off x="5175504" y="3529584"/>
            <a:ext cx="27432" cy="36576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4"/>
          <p:cNvSpPr/>
          <p:nvPr/>
        </p:nvSpPr>
        <p:spPr>
          <a:xfrm>
            <a:off x="5276088" y="345643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NotificationsController</a:t>
            </a:r>
            <a:endParaRPr lang="en-US" sz="1250" dirty="0"/>
          </a:p>
        </p:txBody>
      </p:sp>
      <p:sp>
        <p:nvSpPr>
          <p:cNvPr id="48" name="Text 45"/>
          <p:cNvSpPr/>
          <p:nvPr/>
        </p:nvSpPr>
        <p:spPr>
          <a:xfrm>
            <a:off x="5276088" y="3730752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· Read · Manage Alerts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201168" y="4553712"/>
            <a:ext cx="2779776" cy="274320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7"/>
          <p:cNvSpPr/>
          <p:nvPr/>
        </p:nvSpPr>
        <p:spPr>
          <a:xfrm>
            <a:off x="274320" y="4562856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 ·  REST Endpoints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3182112" y="4553712"/>
            <a:ext cx="2779776" cy="274320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49"/>
          <p:cNvSpPr/>
          <p:nvPr/>
        </p:nvSpPr>
        <p:spPr>
          <a:xfrm>
            <a:off x="3255264" y="4562856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·  Role Levels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6163056" y="4553712"/>
            <a:ext cx="2779776" cy="274320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1"/>
          <p:cNvSpPr/>
          <p:nvPr/>
        </p:nvSpPr>
        <p:spPr>
          <a:xfrm>
            <a:off x="6236208" y="4562856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 ·  Auth Method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70F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82296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46304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8229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Policy Workflow — 10 Steps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0" y="566928"/>
            <a:ext cx="9144000" cy="5029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201168" y="749808"/>
            <a:ext cx="493776" cy="603504"/>
          </a:xfrm>
          <a:prstGeom prst="rect">
            <a:avLst/>
          </a:prstGeom>
          <a:solidFill>
            <a:srgbClr val="0D9488"/>
          </a:solidFill>
          <a:ln/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201168" y="877824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94944" y="749808"/>
            <a:ext cx="3749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786384" y="8046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86384" y="102412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Policy Request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681728" y="749808"/>
            <a:ext cx="493776" cy="603504"/>
          </a:xfrm>
          <a:prstGeom prst="rect">
            <a:avLst/>
          </a:prstGeom>
          <a:solidFill>
            <a:srgbClr val="0D1B3E"/>
          </a:solidFill>
          <a:ln/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681728" y="877824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175504" y="749808"/>
            <a:ext cx="3749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266944" y="8046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266944" y="102412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Agent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201168" y="1536192"/>
            <a:ext cx="493776" cy="603504"/>
          </a:xfrm>
          <a:prstGeom prst="rect">
            <a:avLst/>
          </a:prstGeom>
          <a:solidFill>
            <a:srgbClr val="0D9488"/>
          </a:solidFill>
          <a:ln/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201168" y="1664208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694944" y="1536192"/>
            <a:ext cx="3749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786384" y="15910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786384" y="181051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Property Details Form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681728" y="1536192"/>
            <a:ext cx="493776" cy="603504"/>
          </a:xfrm>
          <a:prstGeom prst="rect">
            <a:avLst/>
          </a:prstGeom>
          <a:solidFill>
            <a:srgbClr val="0D1B3E"/>
          </a:solidFill>
          <a:ln/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4681728" y="1664208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5175504" y="1536192"/>
            <a:ext cx="3749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5266944" y="15910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5266944" y="181051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Property Details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201168" y="2322576"/>
            <a:ext cx="493776" cy="603504"/>
          </a:xfrm>
          <a:prstGeom prst="rect">
            <a:avLst/>
          </a:prstGeom>
          <a:solidFill>
            <a:srgbClr val="0D9488"/>
          </a:solidFill>
          <a:ln/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201168" y="2450592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694944" y="2322576"/>
            <a:ext cx="3749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786384" y="23774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786384" y="259689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Risk &amp; Premium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4681728" y="2322576"/>
            <a:ext cx="493776" cy="603504"/>
          </a:xfrm>
          <a:prstGeom prst="rect">
            <a:avLst/>
          </a:prstGeom>
          <a:solidFill>
            <a:srgbClr val="0D1B3E"/>
          </a:solidFill>
          <a:ln/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Text 32"/>
          <p:cNvSpPr/>
          <p:nvPr/>
        </p:nvSpPr>
        <p:spPr>
          <a:xfrm>
            <a:off x="4681728" y="2450592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36" name="Shape 33"/>
          <p:cNvSpPr/>
          <p:nvPr/>
        </p:nvSpPr>
        <p:spPr>
          <a:xfrm>
            <a:off x="5175504" y="2322576"/>
            <a:ext cx="3749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Text 34"/>
          <p:cNvSpPr/>
          <p:nvPr/>
        </p:nvSpPr>
        <p:spPr>
          <a:xfrm>
            <a:off x="5266944" y="23774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5266944" y="259689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&amp; Purchase Policy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201168" y="3108960"/>
            <a:ext cx="493776" cy="603504"/>
          </a:xfrm>
          <a:prstGeom prst="rect">
            <a:avLst/>
          </a:prstGeom>
          <a:solidFill>
            <a:srgbClr val="0D9488"/>
          </a:solidFill>
          <a:ln/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201168" y="3236976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500" dirty="0"/>
          </a:p>
        </p:txBody>
      </p:sp>
      <p:sp>
        <p:nvSpPr>
          <p:cNvPr id="41" name="Shape 38"/>
          <p:cNvSpPr/>
          <p:nvPr/>
        </p:nvSpPr>
        <p:spPr>
          <a:xfrm>
            <a:off x="694944" y="3108960"/>
            <a:ext cx="3749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Text 39"/>
          <p:cNvSpPr/>
          <p:nvPr/>
        </p:nvSpPr>
        <p:spPr>
          <a:xfrm>
            <a:off x="786384" y="316382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786384" y="33832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Approval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4681728" y="3108960"/>
            <a:ext cx="493776" cy="603504"/>
          </a:xfrm>
          <a:prstGeom prst="rect">
            <a:avLst/>
          </a:prstGeom>
          <a:solidFill>
            <a:srgbClr val="0D1B3E"/>
          </a:solidFill>
          <a:ln/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5" name="Text 42"/>
          <p:cNvSpPr/>
          <p:nvPr/>
        </p:nvSpPr>
        <p:spPr>
          <a:xfrm>
            <a:off x="4681728" y="3236976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500" dirty="0"/>
          </a:p>
        </p:txBody>
      </p:sp>
      <p:sp>
        <p:nvSpPr>
          <p:cNvPr id="46" name="Shape 43"/>
          <p:cNvSpPr/>
          <p:nvPr/>
        </p:nvSpPr>
        <p:spPr>
          <a:xfrm>
            <a:off x="5175504" y="3108960"/>
            <a:ext cx="3749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7" name="Text 44"/>
          <p:cNvSpPr/>
          <p:nvPr/>
        </p:nvSpPr>
        <p:spPr>
          <a:xfrm>
            <a:off x="5266944" y="316382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5266944" y="33832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Claim (if needed)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201168" y="3895344"/>
            <a:ext cx="493776" cy="603504"/>
          </a:xfrm>
          <a:prstGeom prst="rect">
            <a:avLst/>
          </a:prstGeom>
          <a:solidFill>
            <a:srgbClr val="0D9488"/>
          </a:solidFill>
          <a:ln/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0" name="Text 47"/>
          <p:cNvSpPr/>
          <p:nvPr/>
        </p:nvSpPr>
        <p:spPr>
          <a:xfrm>
            <a:off x="201168" y="4023360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500" dirty="0"/>
          </a:p>
        </p:txBody>
      </p:sp>
      <p:sp>
        <p:nvSpPr>
          <p:cNvPr id="51" name="Shape 48"/>
          <p:cNvSpPr/>
          <p:nvPr/>
        </p:nvSpPr>
        <p:spPr>
          <a:xfrm>
            <a:off x="694944" y="3895344"/>
            <a:ext cx="3749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2" name="Text 49"/>
          <p:cNvSpPr/>
          <p:nvPr/>
        </p:nvSpPr>
        <p:spPr>
          <a:xfrm>
            <a:off x="786384" y="39502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Officer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786384" y="416966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&amp; Approve Claim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4681728" y="3895344"/>
            <a:ext cx="493776" cy="603504"/>
          </a:xfrm>
          <a:prstGeom prst="rect">
            <a:avLst/>
          </a:prstGeom>
          <a:solidFill>
            <a:srgbClr val="F59E0B"/>
          </a:solidFill>
          <a:ln/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5" name="Text 52"/>
          <p:cNvSpPr/>
          <p:nvPr/>
        </p:nvSpPr>
        <p:spPr>
          <a:xfrm>
            <a:off x="4681728" y="4023360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56" name="Shape 53"/>
          <p:cNvSpPr/>
          <p:nvPr/>
        </p:nvSpPr>
        <p:spPr>
          <a:xfrm>
            <a:off x="5175504" y="3895344"/>
            <a:ext cx="3749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7" name="Text 54"/>
          <p:cNvSpPr/>
          <p:nvPr/>
        </p:nvSpPr>
        <p:spPr>
          <a:xfrm>
            <a:off x="5266944" y="39502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266944" y="416966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Generated + Reward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70F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82296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46304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8229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Calculation &amp; Premium Logic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0" y="566928"/>
            <a:ext cx="9144000" cy="5029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201168" y="749808"/>
            <a:ext cx="420624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201168" y="749808"/>
            <a:ext cx="59436" cy="404164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384048" y="87782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Rules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384048" y="1188720"/>
            <a:ext cx="3858768" cy="274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347472" y="1316736"/>
            <a:ext cx="3931920" cy="91440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438912" y="1408176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79" y="1488643"/>
            <a:ext cx="241402" cy="24140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14400" y="1426464"/>
            <a:ext cx="3273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Age &gt; 10 years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914400" y="1691640"/>
            <a:ext cx="3273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 Risk Points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347472" y="2487168"/>
            <a:ext cx="3931920" cy="91440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438912" y="2578608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79" y="2659075"/>
            <a:ext cx="241402" cy="24140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14400" y="2596896"/>
            <a:ext cx="3273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Value &gt; ₹2,50,000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914400" y="2862072"/>
            <a:ext cx="3273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+40 Risk Points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310896" y="3675888"/>
            <a:ext cx="41148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19"/>
          <p:cNvSpPr/>
          <p:nvPr/>
        </p:nvSpPr>
        <p:spPr>
          <a:xfrm>
            <a:off x="457200" y="3749040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Formula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457200" y="3986784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FinalPremium = BasePremium × RiskScore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4663440" y="749808"/>
            <a:ext cx="4251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2"/>
          <p:cNvSpPr/>
          <p:nvPr/>
        </p:nvSpPr>
        <p:spPr>
          <a:xfrm>
            <a:off x="4663440" y="749808"/>
            <a:ext cx="59436" cy="8229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3"/>
          <p:cNvSpPr/>
          <p:nvPr/>
        </p:nvSpPr>
        <p:spPr>
          <a:xfrm>
            <a:off x="4864608" y="850392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Installments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4864608" y="1115568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Monthly/quarterly auto-calc per PremiumFrequency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4663440" y="1746504"/>
            <a:ext cx="4251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6"/>
          <p:cNvSpPr/>
          <p:nvPr/>
        </p:nvSpPr>
        <p:spPr>
          <a:xfrm>
            <a:off x="4663440" y="1746504"/>
            <a:ext cx="59436" cy="8229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7"/>
          <p:cNvSpPr/>
          <p:nvPr/>
        </p:nvSpPr>
        <p:spPr>
          <a:xfrm>
            <a:off x="4864608" y="1847088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Commission</a:t>
            </a:r>
            <a:endParaRPr lang="en-US" sz="1250" dirty="0"/>
          </a:p>
        </p:txBody>
      </p:sp>
      <p:sp>
        <p:nvSpPr>
          <p:cNvPr id="33" name="Text 28"/>
          <p:cNvSpPr/>
          <p:nvPr/>
        </p:nvSpPr>
        <p:spPr>
          <a:xfrm>
            <a:off x="4864608" y="2112264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= BasePremium × (Agent Commission % / 100)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4663440" y="2743200"/>
            <a:ext cx="4251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0"/>
          <p:cNvSpPr/>
          <p:nvPr/>
        </p:nvSpPr>
        <p:spPr>
          <a:xfrm>
            <a:off x="4663440" y="2743200"/>
            <a:ext cx="59436" cy="82296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1"/>
          <p:cNvSpPr/>
          <p:nvPr/>
        </p:nvSpPr>
        <p:spPr>
          <a:xfrm>
            <a:off x="4864608" y="2843784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Adjustment</a:t>
            </a:r>
            <a:endParaRPr lang="en-US" sz="1250" dirty="0"/>
          </a:p>
        </p:txBody>
      </p:sp>
      <p:sp>
        <p:nvSpPr>
          <p:cNvPr id="37" name="Text 32"/>
          <p:cNvSpPr/>
          <p:nvPr/>
        </p:nvSpPr>
        <p:spPr>
          <a:xfrm>
            <a:off x="4864608" y="310896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updates automatically with risk score</a:t>
            </a:r>
            <a:endParaRPr lang="en-US" sz="1050" dirty="0"/>
          </a:p>
        </p:txBody>
      </p:sp>
      <p:sp>
        <p:nvSpPr>
          <p:cNvPr id="38" name="Shape 33"/>
          <p:cNvSpPr/>
          <p:nvPr/>
        </p:nvSpPr>
        <p:spPr>
          <a:xfrm>
            <a:off x="4663440" y="3739896"/>
            <a:ext cx="4251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4"/>
          <p:cNvSpPr/>
          <p:nvPr/>
        </p:nvSpPr>
        <p:spPr>
          <a:xfrm>
            <a:off x="4663440" y="3739896"/>
            <a:ext cx="59436" cy="8229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5"/>
          <p:cNvSpPr/>
          <p:nvPr/>
        </p:nvSpPr>
        <p:spPr>
          <a:xfrm>
            <a:off x="4864608" y="3840480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Pricing</a:t>
            </a:r>
            <a:endParaRPr lang="en-US" sz="1250" dirty="0"/>
          </a:p>
        </p:txBody>
      </p:sp>
      <p:sp>
        <p:nvSpPr>
          <p:cNvPr id="41" name="Text 36"/>
          <p:cNvSpPr/>
          <p:nvPr/>
        </p:nvSpPr>
        <p:spPr>
          <a:xfrm>
            <a:off x="4864608" y="4105656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sees full breakdown before confirming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70F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82296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059" y="162763"/>
            <a:ext cx="241402" cy="2414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8229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Implementation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0" y="566928"/>
            <a:ext cx="9144000" cy="5029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70F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201168" y="768096"/>
            <a:ext cx="4261104" cy="1115568"/>
          </a:xfrm>
          <a:prstGeom prst="rect">
            <a:avLst/>
          </a:prstGeom>
          <a:solidFill>
            <a:srgbClr val="1A3259"/>
          </a:solidFill>
          <a:ln/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329184" y="1106424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966" y="119420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59536" y="923544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Bearer Auth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859536" y="1261872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token auth for all API requests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681728" y="768096"/>
            <a:ext cx="4261104" cy="1115568"/>
          </a:xfrm>
          <a:prstGeom prst="rect">
            <a:avLst/>
          </a:prstGeom>
          <a:solidFill>
            <a:srgbClr val="1A3259"/>
          </a:solidFill>
          <a:ln/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4809744" y="1106424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7526" y="119420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40096" y="923544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Auth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5340096" y="1261872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· Agent · Customer · Claims Officer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201168" y="2139696"/>
            <a:ext cx="4261104" cy="1115568"/>
          </a:xfrm>
          <a:prstGeom prst="rect">
            <a:avLst/>
          </a:prstGeom>
          <a:solidFill>
            <a:srgbClr val="1A3259"/>
          </a:solidFill>
          <a:ln/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329184" y="2478024"/>
            <a:ext cx="438912" cy="438912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966" y="2565806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59536" y="2295144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Hashing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859536" y="2633472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salted + hashed — never plaintext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681728" y="2139696"/>
            <a:ext cx="4261104" cy="1115568"/>
          </a:xfrm>
          <a:prstGeom prst="rect">
            <a:avLst/>
          </a:prstGeom>
          <a:solidFill>
            <a:srgbClr val="1A3259"/>
          </a:solidFill>
          <a:ln/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19"/>
          <p:cNvSpPr/>
          <p:nvPr/>
        </p:nvSpPr>
        <p:spPr>
          <a:xfrm>
            <a:off x="4809744" y="2478024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7526" y="2565806"/>
            <a:ext cx="263347" cy="26334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40096" y="2295144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Auth Guard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5340096" y="2633472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route protection by user role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201168" y="3511296"/>
            <a:ext cx="4261104" cy="1115568"/>
          </a:xfrm>
          <a:prstGeom prst="rect">
            <a:avLst/>
          </a:prstGeom>
          <a:solidFill>
            <a:srgbClr val="1A3259"/>
          </a:solidFill>
          <a:ln/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3"/>
          <p:cNvSpPr/>
          <p:nvPr/>
        </p:nvSpPr>
        <p:spPr>
          <a:xfrm>
            <a:off x="329184" y="3849624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6966" y="3937406"/>
            <a:ext cx="263347" cy="26334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59536" y="3666744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Interceptor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59536" y="4005072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JWT injection into every outbound request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4681728" y="3511296"/>
            <a:ext cx="4261104" cy="1115568"/>
          </a:xfrm>
          <a:prstGeom prst="rect">
            <a:avLst/>
          </a:prstGeom>
          <a:solidFill>
            <a:srgbClr val="1A3259"/>
          </a:solidFill>
          <a:ln/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27"/>
          <p:cNvSpPr/>
          <p:nvPr/>
        </p:nvSpPr>
        <p:spPr>
          <a:xfrm>
            <a:off x="4809744" y="3849624"/>
            <a:ext cx="438912" cy="438912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7526" y="3937406"/>
            <a:ext cx="263347" cy="263347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5340096" y="3666744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Restriction</a:t>
            </a:r>
            <a:endParaRPr lang="en-US" sz="1350" dirty="0"/>
          </a:p>
        </p:txBody>
      </p:sp>
      <p:sp>
        <p:nvSpPr>
          <p:cNvPr id="38" name="Text 29"/>
          <p:cNvSpPr/>
          <p:nvPr/>
        </p:nvSpPr>
        <p:spPr>
          <a:xfrm>
            <a:off x="5340096" y="4005072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whitelisted origins reach the API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70F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82296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46304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8229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Frontend Structure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0" y="566928"/>
            <a:ext cx="9144000" cy="5029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274320" y="4974336"/>
            <a:ext cx="8321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201168" y="749808"/>
            <a:ext cx="3200400" cy="4041648"/>
          </a:xfrm>
          <a:prstGeom prst="rect">
            <a:avLst/>
          </a:prstGeom>
          <a:solidFill>
            <a:srgbClr val="0D1B3E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384048" y="87782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84048" y="1188720"/>
            <a:ext cx="2834640" cy="274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384048" y="129844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 core/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40080" y="1545336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auth.service.ts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40080" y="1792224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interceptors/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84048" y="203911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 features/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40080" y="2286000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admin/ · agent/ · customer/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40080" y="2532888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claims-officer/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384048" y="277977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 shared/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40080" y="3026664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components/ · models/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384048" y="327355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 environments/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40080" y="3520440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theme.service.ts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40080" y="3767328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notifications.service.ts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3547872" y="74980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Services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3547872" y="1060704"/>
            <a:ext cx="257860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3547872" y="1060704"/>
            <a:ext cx="59436" cy="47548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3730752" y="117043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auth.service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291072" y="1060704"/>
            <a:ext cx="257860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6291072" y="1060704"/>
            <a:ext cx="59436" cy="47548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6473952" y="117043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policy-requests.service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3547872" y="1682496"/>
            <a:ext cx="257860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8"/>
          <p:cNvSpPr/>
          <p:nvPr/>
        </p:nvSpPr>
        <p:spPr>
          <a:xfrm>
            <a:off x="3547872" y="1682496"/>
            <a:ext cx="59436" cy="47548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3730752" y="179222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claims.service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6291072" y="1682496"/>
            <a:ext cx="257860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1"/>
          <p:cNvSpPr/>
          <p:nvPr/>
        </p:nvSpPr>
        <p:spPr>
          <a:xfrm>
            <a:off x="6291072" y="1682496"/>
            <a:ext cx="59436" cy="47548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2"/>
          <p:cNvSpPr/>
          <p:nvPr/>
        </p:nvSpPr>
        <p:spPr>
          <a:xfrm>
            <a:off x="6473952" y="179222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admin.service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3547872" y="2304288"/>
            <a:ext cx="257860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4"/>
          <p:cNvSpPr/>
          <p:nvPr/>
        </p:nvSpPr>
        <p:spPr>
          <a:xfrm>
            <a:off x="3547872" y="2304288"/>
            <a:ext cx="59436" cy="47548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3730752" y="241401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invoices.service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6291072" y="2304288"/>
            <a:ext cx="257860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7"/>
          <p:cNvSpPr/>
          <p:nvPr/>
        </p:nvSpPr>
        <p:spPr>
          <a:xfrm>
            <a:off x="6291072" y="2304288"/>
            <a:ext cx="59436" cy="47548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8"/>
          <p:cNvSpPr/>
          <p:nvPr/>
        </p:nvSpPr>
        <p:spPr>
          <a:xfrm>
            <a:off x="6473952" y="241401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notifications.service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3547872" y="2926080"/>
            <a:ext cx="257860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Shape 40"/>
          <p:cNvSpPr/>
          <p:nvPr/>
        </p:nvSpPr>
        <p:spPr>
          <a:xfrm>
            <a:off x="3547872" y="2926080"/>
            <a:ext cx="59436" cy="47548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1"/>
          <p:cNvSpPr/>
          <p:nvPr/>
        </p:nvSpPr>
        <p:spPr>
          <a:xfrm>
            <a:off x="3730752" y="30358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theme.service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6291072" y="2926080"/>
            <a:ext cx="257860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Shape 43"/>
          <p:cNvSpPr/>
          <p:nvPr/>
        </p:nvSpPr>
        <p:spPr>
          <a:xfrm>
            <a:off x="6291072" y="2926080"/>
            <a:ext cx="59436" cy="47548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4"/>
          <p:cNvSpPr/>
          <p:nvPr/>
        </p:nvSpPr>
        <p:spPr>
          <a:xfrm>
            <a:off x="6473952" y="30358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rewards.service</a:t>
            </a:r>
            <a:endParaRPr lang="en-US" sz="1050" dirty="0"/>
          </a:p>
        </p:txBody>
      </p:sp>
      <p:pic>
        <p:nvPicPr>
          <p:cNvPr id="4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7872" y="4096512"/>
            <a:ext cx="201168" cy="201168"/>
          </a:xfrm>
          <a:prstGeom prst="rect">
            <a:avLst/>
          </a:prstGeom>
        </p:spPr>
      </p:pic>
      <p:sp>
        <p:nvSpPr>
          <p:cNvPr id="49" name="Text 45"/>
          <p:cNvSpPr/>
          <p:nvPr/>
        </p:nvSpPr>
        <p:spPr>
          <a:xfrm>
            <a:off x="3822192" y="4078224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Lazy-loaded feature modules</a:t>
            </a:r>
            <a:endParaRPr lang="en-US" sz="1150" dirty="0"/>
          </a:p>
        </p:txBody>
      </p:sp>
      <p:pic>
        <p:nvPicPr>
          <p:cNvPr id="5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7872" y="4480560"/>
            <a:ext cx="201168" cy="201168"/>
          </a:xfrm>
          <a:prstGeom prst="rect">
            <a:avLst/>
          </a:prstGeom>
        </p:spPr>
      </p:pic>
      <p:sp>
        <p:nvSpPr>
          <p:cNvPr id="51" name="Text 46"/>
          <p:cNvSpPr/>
          <p:nvPr/>
        </p:nvSpPr>
        <p:spPr>
          <a:xfrm>
            <a:off x="3822192" y="4462272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dashboards per user</a:t>
            </a:r>
            <a:endParaRPr lang="en-US" sz="1150" dirty="0"/>
          </a:p>
        </p:txBody>
      </p:sp>
      <p:pic>
        <p:nvPicPr>
          <p:cNvPr id="5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7872" y="4864608"/>
            <a:ext cx="201168" cy="201168"/>
          </a:xfrm>
          <a:prstGeom prst="rect">
            <a:avLst/>
          </a:prstGeom>
        </p:spPr>
      </p:pic>
      <p:sp>
        <p:nvSpPr>
          <p:cNvPr id="53" name="Text 47"/>
          <p:cNvSpPr/>
          <p:nvPr/>
        </p:nvSpPr>
        <p:spPr>
          <a:xfrm>
            <a:off x="3822192" y="4846320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/ Dark theme engine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70F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82296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46304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8229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Dashboards — 4 User Roles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0" y="566928"/>
            <a:ext cx="9144000" cy="5029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164592" y="731520"/>
            <a:ext cx="2048256" cy="40690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960120" y="859536"/>
            <a:ext cx="457200" cy="457200"/>
          </a:xfrm>
          <a:prstGeom prst="ellipse">
            <a:avLst/>
          </a:prstGeom>
          <a:solidFill>
            <a:srgbClr val="162444"/>
          </a:solidFill>
          <a:ln w="12700">
            <a:solidFill>
              <a:srgbClr val="162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950976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4592" y="1389888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365760" y="1737360"/>
            <a:ext cx="1645920" cy="2743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292608" y="1883664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agents to requests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292608" y="2450592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Reject policies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292608" y="301752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system statistics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292608" y="358444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staff &amp; plans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2395728" y="731520"/>
            <a:ext cx="2048256" cy="4069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3191256" y="859536"/>
            <a:ext cx="457200" cy="457200"/>
          </a:xfrm>
          <a:prstGeom prst="ellipse">
            <a:avLst/>
          </a:prstGeom>
          <a:solidFill>
            <a:srgbClr val="162444"/>
          </a:solidFill>
          <a:ln w="12700">
            <a:solidFill>
              <a:srgbClr val="162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2696" y="950976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395728" y="1389888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2596896" y="1737360"/>
            <a:ext cx="1645920" cy="2743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18"/>
          <p:cNvSpPr/>
          <p:nvPr/>
        </p:nvSpPr>
        <p:spPr>
          <a:xfrm>
            <a:off x="2523744" y="1883664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assigned policies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2523744" y="2450592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property forms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2523744" y="301752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risk &amp; premium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2523744" y="358444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earnings &amp; commission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4626864" y="731520"/>
            <a:ext cx="2048256" cy="4069080"/>
          </a:xfrm>
          <a:prstGeom prst="rect">
            <a:avLst/>
          </a:prstGeom>
          <a:solidFill>
            <a:srgbClr val="1A3259"/>
          </a:solidFill>
          <a:ln w="12700">
            <a:solidFill>
              <a:srgbClr val="1A3259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3"/>
          <p:cNvSpPr/>
          <p:nvPr/>
        </p:nvSpPr>
        <p:spPr>
          <a:xfrm>
            <a:off x="5422392" y="859536"/>
            <a:ext cx="457200" cy="457200"/>
          </a:xfrm>
          <a:prstGeom prst="ellipse">
            <a:avLst/>
          </a:prstGeom>
          <a:solidFill>
            <a:srgbClr val="162444"/>
          </a:solidFill>
          <a:ln w="12700">
            <a:solidFill>
              <a:srgbClr val="162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3832" y="950976"/>
            <a:ext cx="274320" cy="2743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4626864" y="1389888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350" dirty="0"/>
          </a:p>
        </p:txBody>
      </p:sp>
      <p:sp>
        <p:nvSpPr>
          <p:cNvPr id="31" name="Shape 25"/>
          <p:cNvSpPr/>
          <p:nvPr/>
        </p:nvSpPr>
        <p:spPr>
          <a:xfrm>
            <a:off x="4828032" y="1737360"/>
            <a:ext cx="1645920" cy="2743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6"/>
          <p:cNvSpPr/>
          <p:nvPr/>
        </p:nvSpPr>
        <p:spPr>
          <a:xfrm>
            <a:off x="4754880" y="1883664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insurance plans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4754880" y="2450592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policy requests</a:t>
            </a:r>
            <a:endParaRPr lang="en-US" sz="1050" dirty="0"/>
          </a:p>
        </p:txBody>
      </p:sp>
      <p:sp>
        <p:nvSpPr>
          <p:cNvPr id="34" name="Text 28"/>
          <p:cNvSpPr/>
          <p:nvPr/>
        </p:nvSpPr>
        <p:spPr>
          <a:xfrm>
            <a:off x="4754880" y="301752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policy status</a:t>
            </a:r>
            <a:endParaRPr lang="en-US" sz="1050" dirty="0"/>
          </a:p>
        </p:txBody>
      </p:sp>
      <p:sp>
        <p:nvSpPr>
          <p:cNvPr id="35" name="Text 29"/>
          <p:cNvSpPr/>
          <p:nvPr/>
        </p:nvSpPr>
        <p:spPr>
          <a:xfrm>
            <a:off x="4754880" y="358444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claims · Redeem rewards</a:t>
            </a:r>
            <a:endParaRPr lang="en-US" sz="1050" dirty="0"/>
          </a:p>
        </p:txBody>
      </p:sp>
      <p:sp>
        <p:nvSpPr>
          <p:cNvPr id="36" name="Shape 30"/>
          <p:cNvSpPr/>
          <p:nvPr/>
        </p:nvSpPr>
        <p:spPr>
          <a:xfrm>
            <a:off x="6858000" y="731520"/>
            <a:ext cx="2048256" cy="4069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1"/>
          <p:cNvSpPr/>
          <p:nvPr/>
        </p:nvSpPr>
        <p:spPr>
          <a:xfrm>
            <a:off x="7653528" y="859536"/>
            <a:ext cx="457200" cy="45720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4968" y="950976"/>
            <a:ext cx="274320" cy="27432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6858000" y="1389888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Officer</a:t>
            </a:r>
            <a:endParaRPr lang="en-US" sz="1350" dirty="0"/>
          </a:p>
        </p:txBody>
      </p:sp>
      <p:sp>
        <p:nvSpPr>
          <p:cNvPr id="40" name="Shape 33"/>
          <p:cNvSpPr/>
          <p:nvPr/>
        </p:nvSpPr>
        <p:spPr>
          <a:xfrm>
            <a:off x="7059168" y="1737360"/>
            <a:ext cx="1645920" cy="27432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4"/>
          <p:cNvSpPr/>
          <p:nvPr/>
        </p:nvSpPr>
        <p:spPr>
          <a:xfrm>
            <a:off x="6986016" y="1883664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pending claims</a:t>
            </a:r>
            <a:endParaRPr lang="en-US" sz="1050" dirty="0"/>
          </a:p>
        </p:txBody>
      </p:sp>
      <p:sp>
        <p:nvSpPr>
          <p:cNvPr id="42" name="Text 35"/>
          <p:cNvSpPr/>
          <p:nvPr/>
        </p:nvSpPr>
        <p:spPr>
          <a:xfrm>
            <a:off x="6986016" y="2450592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claim documents</a:t>
            </a:r>
            <a:endParaRPr lang="en-US" sz="1050" dirty="0"/>
          </a:p>
        </p:txBody>
      </p:sp>
      <p:sp>
        <p:nvSpPr>
          <p:cNvPr id="43" name="Text 36"/>
          <p:cNvSpPr/>
          <p:nvPr/>
        </p:nvSpPr>
        <p:spPr>
          <a:xfrm>
            <a:off x="6986016" y="301752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or reject claims</a:t>
            </a:r>
            <a:endParaRPr lang="en-US" sz="1050" dirty="0"/>
          </a:p>
        </p:txBody>
      </p:sp>
      <p:sp>
        <p:nvSpPr>
          <p:cNvPr id="44" name="Text 37"/>
          <p:cNvSpPr/>
          <p:nvPr/>
        </p:nvSpPr>
        <p:spPr>
          <a:xfrm>
            <a:off x="6986016" y="358444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invoice generation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70F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82296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46304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8229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— SQL Server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0" y="566928"/>
            <a:ext cx="9144000" cy="5029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256032" y="7498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Core Tables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201168" y="1060704"/>
            <a:ext cx="2779776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201168" y="1060704"/>
            <a:ext cx="59436" cy="76809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347472" y="1243584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39" y="1324051"/>
            <a:ext cx="241402" cy="24140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41248" y="126187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3182112" y="1060704"/>
            <a:ext cx="2779776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3182112" y="1060704"/>
            <a:ext cx="59436" cy="76809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3328416" y="1243584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8883" y="1324051"/>
            <a:ext cx="241402" cy="24140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822192" y="126187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RefreshTokens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163056" y="1060704"/>
            <a:ext cx="2779776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6163056" y="1060704"/>
            <a:ext cx="59436" cy="76809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6309360" y="1243584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9827" y="1324051"/>
            <a:ext cx="241402" cy="24140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803136" y="126187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PropertyCategories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201168" y="2048256"/>
            <a:ext cx="2779776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0"/>
          <p:cNvSpPr/>
          <p:nvPr/>
        </p:nvSpPr>
        <p:spPr>
          <a:xfrm>
            <a:off x="201168" y="2048256"/>
            <a:ext cx="59436" cy="76809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1"/>
          <p:cNvSpPr/>
          <p:nvPr/>
        </p:nvSpPr>
        <p:spPr>
          <a:xfrm>
            <a:off x="347472" y="2231136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39" y="2311603"/>
            <a:ext cx="241402" cy="24140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41248" y="2249424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PropertySubCategories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3182112" y="2048256"/>
            <a:ext cx="2779776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4"/>
          <p:cNvSpPr/>
          <p:nvPr/>
        </p:nvSpPr>
        <p:spPr>
          <a:xfrm>
            <a:off x="3182112" y="2048256"/>
            <a:ext cx="59436" cy="76809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25"/>
          <p:cNvSpPr/>
          <p:nvPr/>
        </p:nvSpPr>
        <p:spPr>
          <a:xfrm>
            <a:off x="3328416" y="2231136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8883" y="2311603"/>
            <a:ext cx="241402" cy="24140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3822192" y="2249424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PropertyPlans</a:t>
            </a:r>
            <a:endParaRPr lang="en-US" sz="1200" dirty="0"/>
          </a:p>
        </p:txBody>
      </p:sp>
      <p:sp>
        <p:nvSpPr>
          <p:cNvPr id="35" name="Shape 27"/>
          <p:cNvSpPr/>
          <p:nvPr/>
        </p:nvSpPr>
        <p:spPr>
          <a:xfrm>
            <a:off x="6163056" y="2048256"/>
            <a:ext cx="2779776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28"/>
          <p:cNvSpPr/>
          <p:nvPr/>
        </p:nvSpPr>
        <p:spPr>
          <a:xfrm>
            <a:off x="6163056" y="2048256"/>
            <a:ext cx="59436" cy="76809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29"/>
          <p:cNvSpPr/>
          <p:nvPr/>
        </p:nvSpPr>
        <p:spPr>
          <a:xfrm>
            <a:off x="6309360" y="2231136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9827" y="2311603"/>
            <a:ext cx="241402" cy="241402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6803136" y="2249424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PolicyRequests</a:t>
            </a:r>
            <a:endParaRPr lang="en-US" sz="1200" dirty="0"/>
          </a:p>
        </p:txBody>
      </p:sp>
      <p:sp>
        <p:nvSpPr>
          <p:cNvPr id="40" name="Shape 31"/>
          <p:cNvSpPr/>
          <p:nvPr/>
        </p:nvSpPr>
        <p:spPr>
          <a:xfrm>
            <a:off x="201168" y="3035808"/>
            <a:ext cx="2779776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2"/>
          <p:cNvSpPr/>
          <p:nvPr/>
        </p:nvSpPr>
        <p:spPr>
          <a:xfrm>
            <a:off x="201168" y="3035808"/>
            <a:ext cx="59436" cy="76809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Shape 33"/>
          <p:cNvSpPr/>
          <p:nvPr/>
        </p:nvSpPr>
        <p:spPr>
          <a:xfrm>
            <a:off x="347472" y="3218688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39" y="3299155"/>
            <a:ext cx="241402" cy="241402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841248" y="3236976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</a:t>
            </a:r>
            <a:endParaRPr lang="en-US" sz="1200" dirty="0"/>
          </a:p>
        </p:txBody>
      </p:sp>
      <p:sp>
        <p:nvSpPr>
          <p:cNvPr id="45" name="Shape 35"/>
          <p:cNvSpPr/>
          <p:nvPr/>
        </p:nvSpPr>
        <p:spPr>
          <a:xfrm>
            <a:off x="3182112" y="3035808"/>
            <a:ext cx="2779776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Shape 36"/>
          <p:cNvSpPr/>
          <p:nvPr/>
        </p:nvSpPr>
        <p:spPr>
          <a:xfrm>
            <a:off x="3182112" y="3035808"/>
            <a:ext cx="59436" cy="76809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37"/>
          <p:cNvSpPr/>
          <p:nvPr/>
        </p:nvSpPr>
        <p:spPr>
          <a:xfrm>
            <a:off x="3328416" y="3218688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8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8883" y="3299155"/>
            <a:ext cx="241402" cy="241402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3822192" y="3236976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</a:t>
            </a:r>
            <a:endParaRPr lang="en-US" sz="1200" dirty="0"/>
          </a:p>
        </p:txBody>
      </p:sp>
      <p:sp>
        <p:nvSpPr>
          <p:cNvPr id="50" name="Shape 39"/>
          <p:cNvSpPr/>
          <p:nvPr/>
        </p:nvSpPr>
        <p:spPr>
          <a:xfrm>
            <a:off x="6163056" y="3035808"/>
            <a:ext cx="2779776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1" name="Shape 40"/>
          <p:cNvSpPr/>
          <p:nvPr/>
        </p:nvSpPr>
        <p:spPr>
          <a:xfrm>
            <a:off x="6163056" y="3035808"/>
            <a:ext cx="59436" cy="76809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Shape 41"/>
          <p:cNvSpPr/>
          <p:nvPr/>
        </p:nvSpPr>
        <p:spPr>
          <a:xfrm>
            <a:off x="6309360" y="3218688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3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9827" y="3299155"/>
            <a:ext cx="241402" cy="241402"/>
          </a:xfrm>
          <a:prstGeom prst="rect">
            <a:avLst/>
          </a:prstGeom>
        </p:spPr>
      </p:pic>
      <p:sp>
        <p:nvSpPr>
          <p:cNvPr id="54" name="Text 42"/>
          <p:cNvSpPr/>
          <p:nvPr/>
        </p:nvSpPr>
        <p:spPr>
          <a:xfrm>
            <a:off x="6803136" y="3236976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200" dirty="0"/>
          </a:p>
        </p:txBody>
      </p:sp>
      <p:pic>
        <p:nvPicPr>
          <p:cNvPr id="55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4206240"/>
            <a:ext cx="182880" cy="182880"/>
          </a:xfrm>
          <a:prstGeom prst="rect">
            <a:avLst/>
          </a:prstGeom>
        </p:spPr>
      </p:pic>
      <p:sp>
        <p:nvSpPr>
          <p:cNvPr id="56" name="Text 43"/>
          <p:cNvSpPr/>
          <p:nvPr/>
        </p:nvSpPr>
        <p:spPr>
          <a:xfrm>
            <a:off x="512064" y="418795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 relationships across all entities</a:t>
            </a:r>
            <a:endParaRPr lang="en-US" sz="1100" dirty="0"/>
          </a:p>
        </p:txBody>
      </p:sp>
      <p:pic>
        <p:nvPicPr>
          <p:cNvPr id="57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4480560"/>
            <a:ext cx="182880" cy="182880"/>
          </a:xfrm>
          <a:prstGeom prst="rect">
            <a:avLst/>
          </a:prstGeom>
        </p:spPr>
      </p:pic>
      <p:sp>
        <p:nvSpPr>
          <p:cNvPr id="58" name="Text 44"/>
          <p:cNvSpPr/>
          <p:nvPr/>
        </p:nvSpPr>
        <p:spPr>
          <a:xfrm>
            <a:off x="512064" y="446227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email field for uniqueness</a:t>
            </a:r>
            <a:endParaRPr lang="en-US" sz="1100" dirty="0"/>
          </a:p>
        </p:txBody>
      </p:sp>
      <p:pic>
        <p:nvPicPr>
          <p:cNvPr id="59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4754880"/>
            <a:ext cx="182880" cy="182880"/>
          </a:xfrm>
          <a:prstGeom prst="rect">
            <a:avLst/>
          </a:prstGeom>
        </p:spPr>
      </p:pic>
      <p:sp>
        <p:nvSpPr>
          <p:cNvPr id="60" name="Text 45"/>
          <p:cNvSpPr/>
          <p:nvPr/>
        </p:nvSpPr>
        <p:spPr>
          <a:xfrm>
            <a:off x="512064" y="47365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demo data for dev/testing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0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70F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82296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059" y="162763"/>
            <a:ext cx="241402" cy="2414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8229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Rewards System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0" y="566928"/>
            <a:ext cx="9144000" cy="5029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70F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274320" y="4974336"/>
            <a:ext cx="8321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Insurance System  ·  .NET 8 + Angular (v20+)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201168" y="768096"/>
            <a:ext cx="2011680" cy="3474720"/>
          </a:xfrm>
          <a:prstGeom prst="rect">
            <a:avLst/>
          </a:prstGeom>
          <a:solidFill>
            <a:srgbClr val="1A3259"/>
          </a:solidFill>
          <a:ln/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932688" y="877824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932688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969264" y="1572768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362" y="1667866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92608" y="215798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Signs Up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292608" y="261518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user registers using a referral code from an existing customer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2212848" y="1810512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2432304" y="768096"/>
            <a:ext cx="2011680" cy="3474720"/>
          </a:xfrm>
          <a:prstGeom prst="rect">
            <a:avLst/>
          </a:prstGeom>
          <a:solidFill>
            <a:srgbClr val="1A3259"/>
          </a:solidFill>
          <a:ln/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3163824" y="877824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5"/>
          <p:cNvSpPr/>
          <p:nvPr/>
        </p:nvSpPr>
        <p:spPr>
          <a:xfrm>
            <a:off x="3163824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3200400" y="1572768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5498" y="1667866"/>
            <a:ext cx="285293" cy="285293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2523744" y="215798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Detected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2523744" y="261518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automatically links the new account to the referrer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4443984" y="1810512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4663440" y="768096"/>
            <a:ext cx="2011680" cy="3474720"/>
          </a:xfrm>
          <a:prstGeom prst="rect">
            <a:avLst/>
          </a:prstGeom>
          <a:solidFill>
            <a:srgbClr val="1A3259"/>
          </a:solidFill>
          <a:ln/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1"/>
          <p:cNvSpPr/>
          <p:nvPr/>
        </p:nvSpPr>
        <p:spPr>
          <a:xfrm>
            <a:off x="5394960" y="877824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2"/>
          <p:cNvSpPr/>
          <p:nvPr/>
        </p:nvSpPr>
        <p:spPr>
          <a:xfrm>
            <a:off x="5394960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5431536" y="1572768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6634" y="1667866"/>
            <a:ext cx="285293" cy="285293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4754880" y="215798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Credited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4754880" y="261518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Referrer earns bonus reward points upon referred user's first policy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6675120" y="1810512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27"/>
          <p:cNvSpPr/>
          <p:nvPr/>
        </p:nvSpPr>
        <p:spPr>
          <a:xfrm>
            <a:off x="6894576" y="768096"/>
            <a:ext cx="2011680" cy="3474720"/>
          </a:xfrm>
          <a:prstGeom prst="rect">
            <a:avLst/>
          </a:prstGeom>
          <a:solidFill>
            <a:srgbClr val="1A3259"/>
          </a:solidFill>
          <a:ln/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28"/>
          <p:cNvSpPr/>
          <p:nvPr/>
        </p:nvSpPr>
        <p:spPr>
          <a:xfrm>
            <a:off x="7626096" y="877824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29"/>
          <p:cNvSpPr/>
          <p:nvPr/>
        </p:nvSpPr>
        <p:spPr>
          <a:xfrm>
            <a:off x="7626096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6" name="Shape 30"/>
          <p:cNvSpPr/>
          <p:nvPr/>
        </p:nvSpPr>
        <p:spPr>
          <a:xfrm>
            <a:off x="7662672" y="1572768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57770" y="1667866"/>
            <a:ext cx="285293" cy="285293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6986016" y="215798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Redeem Rewards</a:t>
            </a:r>
            <a:endParaRPr lang="en-US" sz="1150" dirty="0"/>
          </a:p>
        </p:txBody>
      </p:sp>
      <p:sp>
        <p:nvSpPr>
          <p:cNvPr id="39" name="Text 32"/>
          <p:cNvSpPr/>
          <p:nvPr/>
        </p:nvSpPr>
        <p:spPr>
          <a:xfrm>
            <a:off x="6986016" y="261518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points redeemable for premium discounts or cashback</a:t>
            </a:r>
            <a:endParaRPr lang="en-US" sz="950" dirty="0"/>
          </a:p>
        </p:txBody>
      </p:sp>
      <p:sp>
        <p:nvSpPr>
          <p:cNvPr id="40" name="Shape 33"/>
          <p:cNvSpPr/>
          <p:nvPr/>
        </p:nvSpPr>
        <p:spPr>
          <a:xfrm>
            <a:off x="201168" y="4352544"/>
            <a:ext cx="2011680" cy="493776"/>
          </a:xfrm>
          <a:prstGeom prst="rect">
            <a:avLst/>
          </a:prstGeom>
          <a:solidFill>
            <a:srgbClr val="0D9488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Text 34"/>
          <p:cNvSpPr/>
          <p:nvPr/>
        </p:nvSpPr>
        <p:spPr>
          <a:xfrm>
            <a:off x="201168" y="437083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</a:t>
            </a:r>
            <a:endParaRPr lang="en-US" sz="1500" dirty="0"/>
          </a:p>
        </p:txBody>
      </p:sp>
      <p:sp>
        <p:nvSpPr>
          <p:cNvPr id="42" name="Text 35"/>
          <p:cNvSpPr/>
          <p:nvPr/>
        </p:nvSpPr>
        <p:spPr>
          <a:xfrm>
            <a:off x="201168" y="460857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per Referral</a:t>
            </a:r>
            <a:endParaRPr lang="en-US" sz="850" dirty="0"/>
          </a:p>
        </p:txBody>
      </p:sp>
      <p:sp>
        <p:nvSpPr>
          <p:cNvPr id="43" name="Shape 36"/>
          <p:cNvSpPr/>
          <p:nvPr/>
        </p:nvSpPr>
        <p:spPr>
          <a:xfrm>
            <a:off x="2432304" y="4352544"/>
            <a:ext cx="2011680" cy="493776"/>
          </a:xfrm>
          <a:prstGeom prst="rect">
            <a:avLst/>
          </a:prstGeom>
          <a:solidFill>
            <a:srgbClr val="F59E0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Text 37"/>
          <p:cNvSpPr/>
          <p:nvPr/>
        </p:nvSpPr>
        <p:spPr>
          <a:xfrm>
            <a:off x="2432304" y="437083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1500" dirty="0"/>
          </a:p>
        </p:txBody>
      </p:sp>
      <p:sp>
        <p:nvSpPr>
          <p:cNvPr id="45" name="Text 38"/>
          <p:cNvSpPr/>
          <p:nvPr/>
        </p:nvSpPr>
        <p:spPr>
          <a:xfrm>
            <a:off x="2432304" y="460857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Referral Limit</a:t>
            </a:r>
            <a:endParaRPr lang="en-US" sz="850" dirty="0"/>
          </a:p>
        </p:txBody>
      </p:sp>
      <p:sp>
        <p:nvSpPr>
          <p:cNvPr id="46" name="Shape 39"/>
          <p:cNvSpPr/>
          <p:nvPr/>
        </p:nvSpPr>
        <p:spPr>
          <a:xfrm>
            <a:off x="4663440" y="4352544"/>
            <a:ext cx="2011680" cy="493776"/>
          </a:xfrm>
          <a:prstGeom prst="rect">
            <a:avLst/>
          </a:prstGeom>
          <a:solidFill>
            <a:srgbClr val="0D9488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7" name="Text 40"/>
          <p:cNvSpPr/>
          <p:nvPr/>
        </p:nvSpPr>
        <p:spPr>
          <a:xfrm>
            <a:off x="4663440" y="437083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1500" dirty="0"/>
          </a:p>
        </p:txBody>
      </p:sp>
      <p:sp>
        <p:nvSpPr>
          <p:cNvPr id="48" name="Text 41"/>
          <p:cNvSpPr/>
          <p:nvPr/>
        </p:nvSpPr>
        <p:spPr>
          <a:xfrm>
            <a:off x="4663440" y="460857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Detected</a:t>
            </a:r>
            <a:endParaRPr lang="en-US" sz="850" dirty="0"/>
          </a:p>
        </p:txBody>
      </p:sp>
      <p:sp>
        <p:nvSpPr>
          <p:cNvPr id="49" name="Shape 42"/>
          <p:cNvSpPr/>
          <p:nvPr/>
        </p:nvSpPr>
        <p:spPr>
          <a:xfrm>
            <a:off x="6894576" y="4352544"/>
            <a:ext cx="2011680" cy="493776"/>
          </a:xfrm>
          <a:prstGeom prst="rect">
            <a:avLst/>
          </a:prstGeom>
          <a:solidFill>
            <a:srgbClr val="F59E0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0" name="Text 43"/>
          <p:cNvSpPr/>
          <p:nvPr/>
        </p:nvSpPr>
        <p:spPr>
          <a:xfrm>
            <a:off x="6894576" y="437083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</a:t>
            </a:r>
            <a:endParaRPr lang="en-US" sz="1500" dirty="0"/>
          </a:p>
        </p:txBody>
      </p:sp>
      <p:sp>
        <p:nvSpPr>
          <p:cNvPr id="51" name="Text 44"/>
          <p:cNvSpPr/>
          <p:nvPr/>
        </p:nvSpPr>
        <p:spPr>
          <a:xfrm>
            <a:off x="6894576" y="460857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on Activation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70F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82296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46304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8229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/ Dark Mode — Adaptive UI Theme Engine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0" y="566928"/>
            <a:ext cx="9144000" cy="5029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70F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274320" y="4974336"/>
            <a:ext cx="8321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Insurance System  ·  .NET 8 + Angular (v20+)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201168" y="749808"/>
            <a:ext cx="4160520" cy="4041648"/>
          </a:xfrm>
          <a:prstGeom prst="rect">
            <a:avLst/>
          </a:prstGeom>
          <a:solidFill>
            <a:srgbClr val="111827"/>
          </a:solidFill>
          <a:ln/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201168" y="749808"/>
            <a:ext cx="4160520" cy="457200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310896" y="850392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603504" y="850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 Dark Mode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749040" y="859536"/>
            <a:ext cx="502920" cy="21945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4059936" y="859536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256032" y="1298448"/>
            <a:ext cx="4050792" cy="493776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347472" y="1371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Status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377440" y="1371600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56032" y="1901952"/>
            <a:ext cx="4050792" cy="493776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347472" y="19751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2377440" y="1975104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₹14,500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56032" y="2505456"/>
            <a:ext cx="4050792" cy="493776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347472" y="25786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Payment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2377440" y="2578608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Apr 2026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256032" y="3108960"/>
            <a:ext cx="4050792" cy="493776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347472" y="31821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2377440" y="3182112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 pts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256032" y="3712464"/>
            <a:ext cx="4050792" cy="493776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347472" y="37856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2377440" y="3785616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unread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201168" y="4617720"/>
            <a:ext cx="4160520" cy="173736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201168" y="4626864"/>
            <a:ext cx="4160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UI  ·  Low eye-strain  ·  Premium feel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782312" y="749808"/>
            <a:ext cx="4160520" cy="4041648"/>
          </a:xfrm>
          <a:prstGeom prst="rect">
            <a:avLst/>
          </a:prstGeom>
          <a:solidFill>
            <a:srgbClr val="F9FAFB"/>
          </a:solidFill>
          <a:ln/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0"/>
          <p:cNvSpPr/>
          <p:nvPr/>
        </p:nvSpPr>
        <p:spPr>
          <a:xfrm>
            <a:off x="4782312" y="749808"/>
            <a:ext cx="4160520" cy="45720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1"/>
          <p:cNvSpPr/>
          <p:nvPr/>
        </p:nvSpPr>
        <p:spPr>
          <a:xfrm>
            <a:off x="4892040" y="850392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2"/>
          <p:cNvSpPr/>
          <p:nvPr/>
        </p:nvSpPr>
        <p:spPr>
          <a:xfrm>
            <a:off x="5184648" y="850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  Light Mode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8321040" y="859536"/>
            <a:ext cx="502920" cy="219456"/>
          </a:xfrm>
          <a:prstGeom prst="rect">
            <a:avLst/>
          </a:prstGeom>
          <a:solidFill>
            <a:srgbClr val="D1D5D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4"/>
          <p:cNvSpPr/>
          <p:nvPr/>
        </p:nvSpPr>
        <p:spPr>
          <a:xfrm>
            <a:off x="8321040" y="859536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5"/>
          <p:cNvSpPr/>
          <p:nvPr/>
        </p:nvSpPr>
        <p:spPr>
          <a:xfrm>
            <a:off x="4837176" y="1298448"/>
            <a:ext cx="4050792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6"/>
          <p:cNvSpPr/>
          <p:nvPr/>
        </p:nvSpPr>
        <p:spPr>
          <a:xfrm>
            <a:off x="4928616" y="1371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Status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6912864" y="1371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4837176" y="1901952"/>
            <a:ext cx="4050792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39"/>
          <p:cNvSpPr/>
          <p:nvPr/>
        </p:nvSpPr>
        <p:spPr>
          <a:xfrm>
            <a:off x="4928616" y="19751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6912864" y="19751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₹14,500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837176" y="2505456"/>
            <a:ext cx="4050792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2"/>
          <p:cNvSpPr/>
          <p:nvPr/>
        </p:nvSpPr>
        <p:spPr>
          <a:xfrm>
            <a:off x="4928616" y="25786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Payment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6912864" y="25786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Apr 2026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4837176" y="3108960"/>
            <a:ext cx="4050792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5"/>
          <p:cNvSpPr/>
          <p:nvPr/>
        </p:nvSpPr>
        <p:spPr>
          <a:xfrm>
            <a:off x="4928616" y="31821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6912864" y="31821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 pts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4837176" y="3712464"/>
            <a:ext cx="4050792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8"/>
          <p:cNvSpPr/>
          <p:nvPr/>
        </p:nvSpPr>
        <p:spPr>
          <a:xfrm>
            <a:off x="4928616" y="37856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6912864" y="37856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unread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4782312" y="4617720"/>
            <a:ext cx="4160520" cy="173736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51"/>
          <p:cNvSpPr/>
          <p:nvPr/>
        </p:nvSpPr>
        <p:spPr>
          <a:xfrm>
            <a:off x="4782312" y="4626864"/>
            <a:ext cx="4160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UI  ·  Accessible  ·  Clean layout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4462272" y="749808"/>
            <a:ext cx="219456" cy="404164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Shape 53"/>
          <p:cNvSpPr/>
          <p:nvPr/>
        </p:nvSpPr>
        <p:spPr>
          <a:xfrm>
            <a:off x="4425696" y="2267712"/>
            <a:ext cx="292608" cy="292608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4218" y="2326234"/>
            <a:ext cx="175565" cy="175565"/>
          </a:xfrm>
          <a:prstGeom prst="rect">
            <a:avLst/>
          </a:prstGeom>
        </p:spPr>
      </p:pic>
      <p:sp>
        <p:nvSpPr>
          <p:cNvPr id="58" name="Text 54"/>
          <p:cNvSpPr/>
          <p:nvPr/>
        </p:nvSpPr>
        <p:spPr>
          <a:xfrm>
            <a:off x="4443984" y="2596896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70F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82296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46304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8229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System — Real-Time Alerts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0" y="566928"/>
            <a:ext cx="9144000" cy="5029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70F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274320" y="4974336"/>
            <a:ext cx="8321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Insurance System  ·  .NET 8 + Angular (v20+)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201168" y="749808"/>
            <a:ext cx="420624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201168" y="749808"/>
            <a:ext cx="59436" cy="404164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384048" y="87782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Notifications Work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384048" y="1188720"/>
            <a:ext cx="3858768" cy="274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329184" y="1335024"/>
            <a:ext cx="402336" cy="40233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329184" y="13350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2960" y="1335024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22960" y="1527048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event occurs (approval, claim, invoice, reward)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29184" y="1993392"/>
            <a:ext cx="402336" cy="40233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329184" y="1993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22960" y="1993392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22960" y="2185416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NotificationsController creates a Notification entity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29184" y="2651760"/>
            <a:ext cx="402336" cy="40233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32918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22960" y="2651760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22960" y="2843784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to Notifications table with userId &amp; message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329184" y="3310128"/>
            <a:ext cx="402336" cy="40233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329184" y="3310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22960" y="3310128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822960" y="3502152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polls &amp; displays unread count + bell badge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329184" y="3968496"/>
            <a:ext cx="402336" cy="40233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329184" y="3968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822960" y="3968496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Read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822960" y="4160520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clicks notification → marked read in DB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4626864" y="74980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Types</a:t>
            </a:r>
            <a:endParaRPr lang="en-US" sz="1350" dirty="0"/>
          </a:p>
        </p:txBody>
      </p:sp>
      <p:sp>
        <p:nvSpPr>
          <p:cNvPr id="34" name="Shape 31"/>
          <p:cNvSpPr/>
          <p:nvPr/>
        </p:nvSpPr>
        <p:spPr>
          <a:xfrm>
            <a:off x="4626864" y="1060704"/>
            <a:ext cx="4297680" cy="621792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304" y="1170432"/>
            <a:ext cx="329184" cy="329184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5138928" y="111556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Approved</a:t>
            </a:r>
            <a:endParaRPr lang="en-US" sz="1150" dirty="0"/>
          </a:p>
        </p:txBody>
      </p:sp>
      <p:sp>
        <p:nvSpPr>
          <p:cNvPr id="37" name="Text 33"/>
          <p:cNvSpPr/>
          <p:nvPr/>
        </p:nvSpPr>
        <p:spPr>
          <a:xfrm>
            <a:off x="5138928" y="13716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policy #P2025 has been approved by admin</a:t>
            </a:r>
            <a:endParaRPr lang="en-US" sz="950" dirty="0"/>
          </a:p>
        </p:txBody>
      </p:sp>
      <p:sp>
        <p:nvSpPr>
          <p:cNvPr id="38" name="Shape 34"/>
          <p:cNvSpPr/>
          <p:nvPr/>
        </p:nvSpPr>
        <p:spPr>
          <a:xfrm>
            <a:off x="4626864" y="1810512"/>
            <a:ext cx="4297680" cy="621792"/>
          </a:xfrm>
          <a:prstGeom prst="rect">
            <a:avLst/>
          </a:prstGeom>
          <a:solidFill>
            <a:srgbClr val="E0F2FE"/>
          </a:solidFill>
          <a:ln w="12700">
            <a:solidFill>
              <a:srgbClr val="0EA5E9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8304" y="1920240"/>
            <a:ext cx="329184" cy="329184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5138928" y="18653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Assigned</a:t>
            </a:r>
            <a:endParaRPr lang="en-US" sz="1150" dirty="0"/>
          </a:p>
        </p:txBody>
      </p:sp>
      <p:sp>
        <p:nvSpPr>
          <p:cNvPr id="41" name="Text 36"/>
          <p:cNvSpPr/>
          <p:nvPr/>
        </p:nvSpPr>
        <p:spPr>
          <a:xfrm>
            <a:off x="5138928" y="21214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Ravi Kumar has been assigned to your request</a:t>
            </a:r>
            <a:endParaRPr lang="en-US" sz="950" dirty="0"/>
          </a:p>
        </p:txBody>
      </p:sp>
      <p:sp>
        <p:nvSpPr>
          <p:cNvPr id="42" name="Shape 37"/>
          <p:cNvSpPr/>
          <p:nvPr/>
        </p:nvSpPr>
        <p:spPr>
          <a:xfrm>
            <a:off x="4626864" y="2560320"/>
            <a:ext cx="4297680" cy="621792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8304" y="2670048"/>
            <a:ext cx="329184" cy="329184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5138928" y="261518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Reminder</a:t>
            </a:r>
            <a:endParaRPr lang="en-US" sz="1150" dirty="0"/>
          </a:p>
        </p:txBody>
      </p:sp>
      <p:sp>
        <p:nvSpPr>
          <p:cNvPr id="45" name="Text 39"/>
          <p:cNvSpPr/>
          <p:nvPr/>
        </p:nvSpPr>
        <p:spPr>
          <a:xfrm>
            <a:off x="5138928" y="287121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premium payment is due on 15 Apr 2026</a:t>
            </a:r>
            <a:endParaRPr lang="en-US" sz="950" dirty="0"/>
          </a:p>
        </p:txBody>
      </p:sp>
      <p:sp>
        <p:nvSpPr>
          <p:cNvPr id="46" name="Shape 40"/>
          <p:cNvSpPr/>
          <p:nvPr/>
        </p:nvSpPr>
        <p:spPr>
          <a:xfrm>
            <a:off x="4626864" y="3310128"/>
            <a:ext cx="4297680" cy="621792"/>
          </a:xfrm>
          <a:prstGeom prst="rect">
            <a:avLst/>
          </a:prstGeom>
          <a:solidFill>
            <a:srgbClr val="FFF1F2"/>
          </a:solidFill>
          <a:ln w="12700">
            <a:solidFill>
              <a:srgbClr val="DB2777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8304" y="3419856"/>
            <a:ext cx="329184" cy="329184"/>
          </a:xfrm>
          <a:prstGeom prst="rect">
            <a:avLst/>
          </a:prstGeom>
        </p:spPr>
      </p:pic>
      <p:sp>
        <p:nvSpPr>
          <p:cNvPr id="48" name="Text 41"/>
          <p:cNvSpPr/>
          <p:nvPr/>
        </p:nvSpPr>
        <p:spPr>
          <a:xfrm>
            <a:off x="5138928" y="33649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Rejected</a:t>
            </a:r>
            <a:endParaRPr lang="en-US" sz="1150" dirty="0"/>
          </a:p>
        </p:txBody>
      </p:sp>
      <p:sp>
        <p:nvSpPr>
          <p:cNvPr id="49" name="Text 42"/>
          <p:cNvSpPr/>
          <p:nvPr/>
        </p:nvSpPr>
        <p:spPr>
          <a:xfrm>
            <a:off x="5138928" y="36210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#C2025 was rejected — insufficient documents</a:t>
            </a:r>
            <a:endParaRPr lang="en-US" sz="950" dirty="0"/>
          </a:p>
        </p:txBody>
      </p:sp>
      <p:sp>
        <p:nvSpPr>
          <p:cNvPr id="50" name="Shape 43"/>
          <p:cNvSpPr/>
          <p:nvPr/>
        </p:nvSpPr>
        <p:spPr>
          <a:xfrm>
            <a:off x="4626864" y="4059936"/>
            <a:ext cx="4297680" cy="621792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8304" y="4169664"/>
            <a:ext cx="329184" cy="329184"/>
          </a:xfrm>
          <a:prstGeom prst="rect">
            <a:avLst/>
          </a:prstGeom>
        </p:spPr>
      </p:pic>
      <p:sp>
        <p:nvSpPr>
          <p:cNvPr id="52" name="Text 44"/>
          <p:cNvSpPr/>
          <p:nvPr/>
        </p:nvSpPr>
        <p:spPr>
          <a:xfrm>
            <a:off x="5138928" y="41148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Earned</a:t>
            </a:r>
            <a:endParaRPr lang="en-US" sz="1150" dirty="0"/>
          </a:p>
        </p:txBody>
      </p:sp>
      <p:sp>
        <p:nvSpPr>
          <p:cNvPr id="53" name="Text 45"/>
          <p:cNvSpPr/>
          <p:nvPr/>
        </p:nvSpPr>
        <p:spPr>
          <a:xfrm>
            <a:off x="5138928" y="43708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earned 50 reward points for referral!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0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70F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82296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059" y="162763"/>
            <a:ext cx="241402" cy="2414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8229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Scale &amp; Key Highlights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0" y="566928"/>
            <a:ext cx="9144000" cy="5029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201168" y="768096"/>
            <a:ext cx="2779776" cy="1005840"/>
          </a:xfrm>
          <a:prstGeom prst="rect">
            <a:avLst/>
          </a:prstGeom>
          <a:solidFill>
            <a:srgbClr val="1A3259"/>
          </a:solidFill>
          <a:ln/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201168" y="859536"/>
            <a:ext cx="2779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201168" y="1481328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Projects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182112" y="768096"/>
            <a:ext cx="2779776" cy="1005840"/>
          </a:xfrm>
          <a:prstGeom prst="rect">
            <a:avLst/>
          </a:prstGeom>
          <a:solidFill>
            <a:srgbClr val="0D9488"/>
          </a:solidFill>
          <a:ln/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3182112" y="859536"/>
            <a:ext cx="2779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800" dirty="0"/>
          </a:p>
        </p:txBody>
      </p:sp>
      <p:sp>
        <p:nvSpPr>
          <p:cNvPr id="14" name="Text 11"/>
          <p:cNvSpPr/>
          <p:nvPr/>
        </p:nvSpPr>
        <p:spPr>
          <a:xfrm>
            <a:off x="3182112" y="1481328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Entities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163056" y="768096"/>
            <a:ext cx="2779776" cy="1005840"/>
          </a:xfrm>
          <a:prstGeom prst="rect">
            <a:avLst/>
          </a:prstGeom>
          <a:solidFill>
            <a:srgbClr val="1A3259"/>
          </a:solidFill>
          <a:ln/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163056" y="859536"/>
            <a:ext cx="2779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3800" dirty="0"/>
          </a:p>
        </p:txBody>
      </p:sp>
      <p:sp>
        <p:nvSpPr>
          <p:cNvPr id="17" name="Text 14"/>
          <p:cNvSpPr/>
          <p:nvPr/>
        </p:nvSpPr>
        <p:spPr>
          <a:xfrm>
            <a:off x="6163056" y="1481328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01168" y="1956816"/>
            <a:ext cx="2779776" cy="1005840"/>
          </a:xfrm>
          <a:prstGeom prst="rect">
            <a:avLst/>
          </a:prstGeom>
          <a:solidFill>
            <a:srgbClr val="1A3259"/>
          </a:solidFill>
          <a:ln/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201168" y="2048256"/>
            <a:ext cx="2779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800" dirty="0"/>
          </a:p>
        </p:txBody>
      </p:sp>
      <p:sp>
        <p:nvSpPr>
          <p:cNvPr id="20" name="Text 17"/>
          <p:cNvSpPr/>
          <p:nvPr/>
        </p:nvSpPr>
        <p:spPr>
          <a:xfrm>
            <a:off x="201168" y="2670048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182112" y="1956816"/>
            <a:ext cx="2779776" cy="1005840"/>
          </a:xfrm>
          <a:prstGeom prst="rect">
            <a:avLst/>
          </a:prstGeom>
          <a:solidFill>
            <a:srgbClr val="0D9488"/>
          </a:solidFill>
          <a:ln/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3182112" y="2048256"/>
            <a:ext cx="2779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</a:t>
            </a:r>
            <a:endParaRPr lang="en-US" sz="3800" dirty="0"/>
          </a:p>
        </p:txBody>
      </p:sp>
      <p:sp>
        <p:nvSpPr>
          <p:cNvPr id="23" name="Text 20"/>
          <p:cNvSpPr/>
          <p:nvPr/>
        </p:nvSpPr>
        <p:spPr>
          <a:xfrm>
            <a:off x="3182112" y="2670048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163056" y="1956816"/>
            <a:ext cx="2779776" cy="1005840"/>
          </a:xfrm>
          <a:prstGeom prst="rect">
            <a:avLst/>
          </a:prstGeom>
          <a:solidFill>
            <a:srgbClr val="1A3259"/>
          </a:solidFill>
          <a:ln/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6163056" y="2048256"/>
            <a:ext cx="2779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</a:t>
            </a:r>
            <a:endParaRPr lang="en-US" sz="3800" dirty="0"/>
          </a:p>
        </p:txBody>
      </p:sp>
      <p:sp>
        <p:nvSpPr>
          <p:cNvPr id="26" name="Text 23"/>
          <p:cNvSpPr/>
          <p:nvPr/>
        </p:nvSpPr>
        <p:spPr>
          <a:xfrm>
            <a:off x="6163056" y="2670048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Components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256032" y="2999232"/>
            <a:ext cx="8631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1100" dirty="0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3310128"/>
            <a:ext cx="182880" cy="18288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493776" y="329184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</a:t>
            </a:r>
            <a:endParaRPr lang="en-US" sz="1200" dirty="0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5264" y="3310128"/>
            <a:ext cx="182880" cy="18288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3493008" y="329184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Fraud Validations</a:t>
            </a:r>
            <a:endParaRPr lang="en-US" sz="1200" dirty="0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496" y="3310128"/>
            <a:ext cx="182880" cy="18288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492240" y="329184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Reward System</a:t>
            </a:r>
            <a:endParaRPr lang="en-US" sz="1200" dirty="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3785616"/>
            <a:ext cx="182880" cy="18288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493776" y="3767328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/ Dark Mode UI</a:t>
            </a:r>
            <a:endParaRPr lang="en-US" sz="1200" dirty="0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5264" y="3785616"/>
            <a:ext cx="182880" cy="18288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3493008" y="3767328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Notifications</a:t>
            </a:r>
            <a:endParaRPr lang="en-US" sz="1200" dirty="0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496" y="3785616"/>
            <a:ext cx="182880" cy="18288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6492240" y="3767328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Enterprise-Level Design</a:t>
            </a:r>
            <a:endParaRPr lang="en-US" sz="1200" dirty="0"/>
          </a:p>
        </p:txBody>
      </p:sp>
      <p:sp>
        <p:nvSpPr>
          <p:cNvPr id="40" name="Shape 31"/>
          <p:cNvSpPr/>
          <p:nvPr/>
        </p:nvSpPr>
        <p:spPr>
          <a:xfrm>
            <a:off x="1828800" y="4480560"/>
            <a:ext cx="5486400" cy="347472"/>
          </a:xfrm>
          <a:prstGeom prst="rect">
            <a:avLst/>
          </a:prstGeom>
          <a:solidFill>
            <a:srgbClr val="0D9488"/>
          </a:solidFill>
          <a:ln/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Text 32"/>
          <p:cNvSpPr/>
          <p:nvPr/>
        </p:nvSpPr>
        <p:spPr>
          <a:xfrm>
            <a:off x="1828800" y="448056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 .NET 8  ·  Angular (v20+)  ·  Clean Architecture  ·  Enterprise Grade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E15F02-43E4-58F4-1541-7BF43925FC5A}"/>
              </a:ext>
            </a:extLst>
          </p:cNvPr>
          <p:cNvSpPr txBox="1"/>
          <p:nvPr/>
        </p:nvSpPr>
        <p:spPr>
          <a:xfrm>
            <a:off x="984738" y="682283"/>
            <a:ext cx="7033847" cy="3643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Shape 15">
            <a:extLst>
              <a:ext uri="{FF2B5EF4-FFF2-40B4-BE49-F238E27FC236}">
                <a16:creationId xmlns:a16="http://schemas.microsoft.com/office/drawing/2014/main" id="{651DA9A7-11D5-ECD4-A2D3-BF7ED4D1FBF8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259"/>
          </a:solidFill>
          <a:ln/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pPr algn="ctr"/>
            <a:endParaRPr lang="en-IN" sz="3200" dirty="0">
              <a:solidFill>
                <a:schemeClr val="bg1"/>
              </a:solidFill>
            </a:endParaRPr>
          </a:p>
          <a:p>
            <a:pPr algn="ctr"/>
            <a:endParaRPr lang="en-IN" sz="3200" dirty="0">
              <a:solidFill>
                <a:schemeClr val="bg1"/>
              </a:solidFill>
            </a:endParaRPr>
          </a:p>
          <a:p>
            <a:pPr algn="ctr"/>
            <a:endParaRPr lang="en-IN" sz="3200" dirty="0">
              <a:solidFill>
                <a:schemeClr val="bg1"/>
              </a:solidFill>
            </a:endParaRPr>
          </a:p>
          <a:p>
            <a:pPr algn="ctr"/>
            <a:endParaRPr lang="en-IN" sz="3200" dirty="0">
              <a:solidFill>
                <a:schemeClr val="bg1"/>
              </a:solidFill>
            </a:endParaRPr>
          </a:p>
          <a:p>
            <a:pPr algn="ctr"/>
            <a:endParaRPr lang="en-IN" sz="32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E15F02-43E4-58F4-1541-7BF43925FC5A}"/>
              </a:ext>
            </a:extLst>
          </p:cNvPr>
          <p:cNvSpPr txBox="1"/>
          <p:nvPr/>
        </p:nvSpPr>
        <p:spPr>
          <a:xfrm>
            <a:off x="4090181" y="2138289"/>
            <a:ext cx="810239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29ECB1-668C-A658-F813-E9913B78767D}"/>
              </a:ext>
            </a:extLst>
          </p:cNvPr>
          <p:cNvSpPr txBox="1"/>
          <p:nvPr/>
        </p:nvSpPr>
        <p:spPr>
          <a:xfrm>
            <a:off x="801858" y="555675"/>
            <a:ext cx="7357403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CBD5E1"/>
                </a:solidFill>
              </a:rPr>
              <a:t>Thank You</a:t>
            </a:r>
          </a:p>
          <a:p>
            <a:pPr algn="ctr"/>
            <a:endParaRPr lang="en-IN" b="1" dirty="0">
              <a:solidFill>
                <a:srgbClr val="CBD5E1"/>
              </a:solidFill>
            </a:endParaRPr>
          </a:p>
          <a:p>
            <a:pPr algn="ctr"/>
            <a:r>
              <a:rPr lang="en-IN" dirty="0">
                <a:solidFill>
                  <a:srgbClr val="CBD5E1"/>
                </a:solidFill>
              </a:rPr>
              <a:t>I would like to sincerely thank </a:t>
            </a:r>
            <a:r>
              <a:rPr lang="en-IN" b="1" dirty="0">
                <a:solidFill>
                  <a:srgbClr val="F59E0B"/>
                </a:solidFill>
              </a:rPr>
              <a:t>The Hartford</a:t>
            </a:r>
            <a:r>
              <a:rPr lang="en-IN" dirty="0">
                <a:solidFill>
                  <a:srgbClr val="CBD5E1"/>
                </a:solidFill>
              </a:rPr>
              <a:t> for providing this opportunity and supporting learning and innovation.</a:t>
            </a:r>
          </a:p>
          <a:p>
            <a:pPr algn="ctr"/>
            <a:endParaRPr lang="en-IN" sz="800" dirty="0"/>
          </a:p>
          <a:p>
            <a:pPr algn="ctr"/>
            <a:r>
              <a:rPr lang="en-IN" dirty="0">
                <a:solidFill>
                  <a:srgbClr val="CBD5E1"/>
                </a:solidFill>
              </a:rPr>
              <a:t>I extend my gratitude to </a:t>
            </a:r>
            <a:r>
              <a:rPr lang="en-IN" b="1" dirty="0">
                <a:solidFill>
                  <a:srgbClr val="F59E0B"/>
                </a:solidFill>
              </a:rPr>
              <a:t>GUVI and the entire team</a:t>
            </a:r>
            <a:r>
              <a:rPr lang="en-IN" dirty="0">
                <a:solidFill>
                  <a:srgbClr val="CBD5E1"/>
                </a:solidFill>
              </a:rPr>
              <a:t> for organizing and guiding this program.</a:t>
            </a:r>
          </a:p>
          <a:p>
            <a:pPr algn="ctr"/>
            <a:endParaRPr lang="en-IN" sz="800" dirty="0"/>
          </a:p>
          <a:p>
            <a:pPr algn="ctr"/>
            <a:r>
              <a:rPr lang="en-IN" dirty="0">
                <a:solidFill>
                  <a:srgbClr val="CBD5E1"/>
                </a:solidFill>
              </a:rPr>
              <a:t>Special thanks to </a:t>
            </a:r>
            <a:r>
              <a:rPr lang="en-IN" b="1" dirty="0">
                <a:solidFill>
                  <a:srgbClr val="F59E0B"/>
                </a:solidFill>
              </a:rPr>
              <a:t>Surya Thammiraju</a:t>
            </a:r>
            <a:r>
              <a:rPr lang="en-IN" dirty="0">
                <a:solidFill>
                  <a:srgbClr val="CBD5E1"/>
                </a:solidFill>
              </a:rPr>
              <a:t>, Head and Managing Director, India – The Hartford, for leadership and encouragement.</a:t>
            </a:r>
          </a:p>
          <a:p>
            <a:pPr algn="ctr"/>
            <a:endParaRPr lang="en-IN" sz="800" dirty="0"/>
          </a:p>
          <a:p>
            <a:pPr algn="ctr"/>
            <a:r>
              <a:rPr lang="en-IN" dirty="0">
                <a:solidFill>
                  <a:srgbClr val="CBD5E1"/>
                </a:solidFill>
              </a:rPr>
              <a:t>Heartfelt thanks to </a:t>
            </a:r>
            <a:r>
              <a:rPr lang="en-IN" b="1" dirty="0">
                <a:solidFill>
                  <a:srgbClr val="F59E0B"/>
                </a:solidFill>
              </a:rPr>
              <a:t>Ranjan Bhatnagar</a:t>
            </a:r>
            <a:r>
              <a:rPr lang="en-IN" dirty="0">
                <a:solidFill>
                  <a:srgbClr val="CBD5E1"/>
                </a:solidFill>
              </a:rPr>
              <a:t>, Microsoft Certified Instructor with 30+ years of experience, for sharing valuable knowledge and insights.</a:t>
            </a:r>
          </a:p>
          <a:p>
            <a:pPr algn="ctr"/>
            <a:endParaRPr lang="en-IN" sz="800" dirty="0"/>
          </a:p>
          <a:p>
            <a:pPr algn="ctr"/>
            <a:r>
              <a:rPr lang="en-IN" dirty="0">
                <a:solidFill>
                  <a:srgbClr val="CBD5E1"/>
                </a:solidFill>
              </a:rPr>
              <a:t>Thanks to </a:t>
            </a:r>
            <a:r>
              <a:rPr lang="en-IN" b="1" dirty="0">
                <a:solidFill>
                  <a:srgbClr val="F59E0B"/>
                </a:solidFill>
              </a:rPr>
              <a:t>Koti Rama Murthy Davuluri</a:t>
            </a:r>
            <a:r>
              <a:rPr lang="en-IN" dirty="0">
                <a:solidFill>
                  <a:srgbClr val="CBD5E1"/>
                </a:solidFill>
              </a:rPr>
              <a:t>, Senior Staff Software Engineer at The Hartford, for guidance and technical support throughout the journey.</a:t>
            </a:r>
          </a:p>
          <a:p>
            <a:pPr algn="ctr"/>
            <a:endParaRPr lang="en-IN" dirty="0">
              <a:solidFill>
                <a:srgbClr val="CBD5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5672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</TotalTime>
  <Words>1379</Words>
  <Application>Microsoft Office PowerPoint</Application>
  <PresentationFormat>On-screen Show (16:9)</PresentationFormat>
  <Paragraphs>409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Property Insurance System</dc:title>
  <dc:subject>PptxGenJS Presentation</dc:subject>
  <dc:creator>PptxGenJS</dc:creator>
  <cp:lastModifiedBy>srinidhi kommawar</cp:lastModifiedBy>
  <cp:revision>13</cp:revision>
  <dcterms:created xsi:type="dcterms:W3CDTF">2026-03-04T09:26:13Z</dcterms:created>
  <dcterms:modified xsi:type="dcterms:W3CDTF">2026-03-09T10:19:08Z</dcterms:modified>
</cp:coreProperties>
</file>